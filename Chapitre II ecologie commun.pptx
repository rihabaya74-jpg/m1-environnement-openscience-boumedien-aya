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63" r:id="rId4"/>
    <p:sldId id="293" r:id="rId5"/>
    <p:sldId id="337" r:id="rId6"/>
    <p:sldId id="338" r:id="rId7"/>
    <p:sldId id="342" r:id="rId8"/>
    <p:sldId id="344" r:id="rId9"/>
    <p:sldId id="346" r:id="rId10"/>
    <p:sldId id="347" r:id="rId11"/>
    <p:sldId id="348" r:id="rId12"/>
    <p:sldId id="349" r:id="rId13"/>
    <p:sldId id="350" r:id="rId14"/>
    <p:sldId id="351" r:id="rId15"/>
    <p:sldId id="321" r:id="rId16"/>
    <p:sldId id="323" r:id="rId17"/>
    <p:sldId id="334" r:id="rId18"/>
    <p:sldId id="335" r:id="rId19"/>
    <p:sldId id="366" r:id="rId20"/>
    <p:sldId id="267" r:id="rId21"/>
    <p:sldId id="268" r:id="rId22"/>
    <p:sldId id="296" r:id="rId23"/>
    <p:sldId id="298" r:id="rId24"/>
    <p:sldId id="357" r:id="rId25"/>
    <p:sldId id="276" r:id="rId26"/>
    <p:sldId id="299" r:id="rId27"/>
    <p:sldId id="277" r:id="rId28"/>
    <p:sldId id="361" r:id="rId29"/>
    <p:sldId id="309" r:id="rId30"/>
  </p:sldIdLst>
  <p:sldSz cx="9144000" cy="6858000" type="screen4x3"/>
  <p:notesSz cx="6858000" cy="9144000"/>
  <p:defaultTextStyle>
    <a:defPPr>
      <a:defRPr lang="fr-FR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09563" y="681038"/>
            <a:ext cx="4603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55588" y="4637088"/>
            <a:ext cx="73025" cy="138113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55588" y="4541838"/>
            <a:ext cx="73025" cy="74613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 hasCustomPrompt="1"/>
          </p:nvPr>
        </p:nvSpPr>
        <p:spPr>
          <a:xfrm>
            <a:off x="914400" y="4343400"/>
            <a:ext cx="7772400" cy="1975104"/>
          </a:xfrm>
        </p:spPr>
        <p:txBody>
          <a:bodyPr/>
          <a:lstStyle>
            <a:lvl1pPr marR="8890" algn="l">
              <a:defRPr sz="4000" b="1" cap="all" spc="0" baseline="0">
                <a:effectLst>
                  <a:reflection blurRad="12700" stA="34000" endA="740" endPos="53000" dir="5400000" sy="-100000" algn="bl" rotWithShape="0"/>
                </a:effectLst>
              </a:defRPr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 hasCustomPrompt="1"/>
          </p:nvPr>
        </p:nvSpPr>
        <p:spPr>
          <a:xfrm>
            <a:off x="914400" y="2834640"/>
            <a:ext cx="7772400" cy="1508760"/>
          </a:xfrm>
        </p:spPr>
        <p:txBody>
          <a:bodyPr lIns="100584" anchor="b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 smtClean="0"/>
              <a:t>Cliquez pour modifier le style des sous-titres du masque</a:t>
            </a:r>
            <a:endParaRPr lang="en-US"/>
          </a:p>
        </p:txBody>
      </p:sp>
      <p:sp>
        <p:nvSpPr>
          <p:cNvPr id="29" name="Espace réservé de la date 27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9837926-BAE7-4AE9-B511-48744EFB1770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Espace réservé du pied de page 16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Espace réservé du numéro de diapositive 28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p>
            <a:pPr>
              <a:buNone/>
            </a:pPr>
            <a:fld id="{9A0DB2DC-4C9A-4742-B13C-FB6460FD3503}" type="slidenum">
              <a:rPr lang="fr-FR" dirty="0">
                <a:latin typeface="Corbel" panose="020B0503020204020204" pitchFamily="34" charset="0"/>
              </a:rPr>
            </a:fld>
            <a:endParaRPr lang="fr-FR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3DAB3A-CE85-4137-9903-3D3C99355476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fr-FR" dirty="0"/>
            </a:fld>
            <a:endParaRPr lang="fr-F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orme libre 17"/>
          <p:cNvSpPr/>
          <p:nvPr/>
        </p:nvSpPr>
        <p:spPr bwMode="auto">
          <a:xfrm>
            <a:off x="4829175" y="1073150"/>
            <a:ext cx="4321175" cy="5791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3648"/>
              </a:cxn>
              <a:cxn ang="0">
                <a:pos x="720" y="2016"/>
              </a:cxn>
              <a:cxn ang="0">
                <a:pos x="2736" y="0"/>
              </a:cxn>
              <a:cxn ang="0">
                <a:pos x="2736" y="96"/>
              </a:cxn>
              <a:cxn ang="0">
                <a:pos x="744" y="2038"/>
              </a:cxn>
              <a:cxn ang="0">
                <a:pos x="48" y="3648"/>
              </a:cxn>
              <a:cxn ang="0">
                <a:pos x="0" y="3648"/>
              </a:cxn>
            </a:cxnLst>
            <a:rect l="0" t="0" r="0" b="0"/>
            <a:pathLst>
              <a:path w="2736" h="3648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Forme libre 18"/>
          <p:cNvSpPr/>
          <p:nvPr/>
        </p:nvSpPr>
        <p:spPr bwMode="auto">
          <a:xfrm>
            <a:off x="374650" y="0"/>
            <a:ext cx="5513388" cy="6615113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4080"/>
              </a:cxn>
              <a:cxn ang="0">
                <a:pos x="0" y="4128"/>
              </a:cxn>
              <a:cxn ang="0">
                <a:pos x="3504" y="2640"/>
              </a:cxn>
              <a:cxn ang="0">
                <a:pos x="2880" y="0"/>
              </a:cxn>
              <a:cxn ang="0">
                <a:pos x="2832" y="0"/>
              </a:cxn>
              <a:cxn ang="0">
                <a:pos x="3465" y="2619"/>
              </a:cxn>
              <a:cxn ang="0">
                <a:pos x="0" y="4080"/>
              </a:cxn>
            </a:cxnLst>
            <a:rect l="0" t="0" r="0" b="0"/>
            <a:pathLst>
              <a:path w="3504" h="4128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w="3175" cap="flat" cmpd="sng" algn="ctr">
            <a:solidFill>
              <a:schemeClr val="accent2">
                <a:alpha val="5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Forme libre 19"/>
          <p:cNvSpPr/>
          <p:nvPr/>
        </p:nvSpPr>
        <p:spPr bwMode="auto">
          <a:xfrm rot="5236414">
            <a:off x="4461669" y="1483519"/>
            <a:ext cx="4114800" cy="11890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Forme libre 20"/>
          <p:cNvSpPr/>
          <p:nvPr/>
        </p:nvSpPr>
        <p:spPr bwMode="auto">
          <a:xfrm>
            <a:off x="5943600" y="0"/>
            <a:ext cx="27432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104" y="0"/>
              </a:cxn>
              <a:cxn ang="0">
                <a:pos x="1728" y="0"/>
              </a:cxn>
              <a:cxn ang="0">
                <a:pos x="0" y="2688"/>
              </a:cxn>
              <a:cxn ang="0">
                <a:pos x="1104" y="0"/>
              </a:cxn>
            </a:cxnLst>
            <a:rect l="0" t="0" r="0" b="0"/>
            <a:pathLst>
              <a:path w="1728" h="268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Forme libre 23"/>
          <p:cNvSpPr/>
          <p:nvPr/>
        </p:nvSpPr>
        <p:spPr bwMode="auto">
          <a:xfrm>
            <a:off x="5943600" y="4267200"/>
            <a:ext cx="3200400" cy="11430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2016" y="240"/>
              </a:cxn>
              <a:cxn ang="0">
                <a:pos x="2016" y="720"/>
              </a:cxn>
              <a:cxn ang="0">
                <a:pos x="0" y="0"/>
              </a:cxn>
            </a:cxnLst>
            <a:rect l="0" t="0" r="0" b="0"/>
            <a:pathLst>
              <a:path w="2016" h="720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Forme libre 24"/>
          <p:cNvSpPr/>
          <p:nvPr/>
        </p:nvSpPr>
        <p:spPr bwMode="auto">
          <a:xfrm>
            <a:off x="5943600" y="0"/>
            <a:ext cx="1371600" cy="4267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864" y="0"/>
              </a:cxn>
              <a:cxn ang="0">
                <a:pos x="0" y="2688"/>
              </a:cxn>
              <a:cxn ang="0">
                <a:pos x="768" y="0"/>
              </a:cxn>
              <a:cxn ang="0">
                <a:pos x="864" y="0"/>
              </a:cxn>
            </a:cxnLst>
            <a:rect l="0" t="0" r="0" b="0"/>
            <a:pathLst>
              <a:path w="864" h="2688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Forme libre 25"/>
          <p:cNvSpPr/>
          <p:nvPr/>
        </p:nvSpPr>
        <p:spPr bwMode="auto">
          <a:xfrm>
            <a:off x="5948363" y="4246563"/>
            <a:ext cx="2090738" cy="261143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71" y="1645"/>
              </a:cxn>
              <a:cxn ang="0">
                <a:pos x="1317" y="1645"/>
              </a:cxn>
              <a:cxn ang="0">
                <a:pos x="0" y="0"/>
              </a:cxn>
              <a:cxn ang="0">
                <a:pos x="1071" y="1645"/>
              </a:cxn>
            </a:cxnLst>
            <a:rect l="0" t="0" r="0" b="0"/>
            <a:pathLst>
              <a:path w="1317" h="1645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Forme libre 26"/>
          <p:cNvSpPr/>
          <p:nvPr/>
        </p:nvSpPr>
        <p:spPr bwMode="auto">
          <a:xfrm>
            <a:off x="5943600" y="4267200"/>
            <a:ext cx="16002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1008" y="1632"/>
              </a:cxn>
              <a:cxn ang="0">
                <a:pos x="0" y="0"/>
              </a:cxn>
              <a:cxn ang="0">
                <a:pos x="960" y="1632"/>
              </a:cxn>
              <a:cxn ang="0">
                <a:pos x="1008" y="1632"/>
              </a:cxn>
            </a:cxnLst>
            <a:rect l="0" t="0" r="0" b="0"/>
            <a:pathLst>
              <a:path w="1008" h="1632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Forme libre 27"/>
          <p:cNvSpPr/>
          <p:nvPr/>
        </p:nvSpPr>
        <p:spPr bwMode="auto">
          <a:xfrm>
            <a:off x="5943600" y="1371600"/>
            <a:ext cx="3200400" cy="2895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2016" y="144"/>
              </a:cxn>
              <a:cxn ang="0">
                <a:pos x="0" y="1824"/>
              </a:cxn>
              <a:cxn ang="0">
                <a:pos x="2016" y="0"/>
              </a:cxn>
            </a:cxnLst>
            <a:rect l="0" t="0" r="0" b="0"/>
            <a:pathLst>
              <a:path w="2016" h="1824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Forme libre 28"/>
          <p:cNvSpPr/>
          <p:nvPr/>
        </p:nvSpPr>
        <p:spPr bwMode="auto">
          <a:xfrm>
            <a:off x="5943600" y="1752600"/>
            <a:ext cx="3200400" cy="2514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2016" y="0"/>
              </a:cxn>
              <a:cxn ang="0">
                <a:pos x="0" y="1584"/>
              </a:cxn>
              <a:cxn ang="0">
                <a:pos x="2016" y="48"/>
              </a:cxn>
              <a:cxn ang="0">
                <a:pos x="2016" y="0"/>
              </a:cxn>
            </a:cxnLst>
            <a:rect l="0" t="0" r="0" b="0"/>
            <a:pathLst>
              <a:path w="2016" h="1584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" name="Forme libre 29"/>
          <p:cNvSpPr/>
          <p:nvPr/>
        </p:nvSpPr>
        <p:spPr bwMode="auto">
          <a:xfrm>
            <a:off x="990600" y="4267200"/>
            <a:ext cx="4953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120" y="0"/>
              </a:cxn>
              <a:cxn ang="0">
                <a:pos x="1056" y="1632"/>
              </a:cxn>
              <a:cxn ang="0">
                <a:pos x="0" y="1632"/>
              </a:cxn>
            </a:cxnLst>
            <a:rect l="0" t="0" r="0" b="0"/>
            <a:pathLst>
              <a:path w="3120" h="1632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Forme libre 30"/>
          <p:cNvSpPr/>
          <p:nvPr/>
        </p:nvSpPr>
        <p:spPr bwMode="auto">
          <a:xfrm>
            <a:off x="533400" y="4267200"/>
            <a:ext cx="53340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3360" y="0"/>
              </a:cxn>
              <a:cxn ang="0">
                <a:pos x="144" y="1632"/>
              </a:cxn>
              <a:cxn ang="0">
                <a:pos x="0" y="1632"/>
              </a:cxn>
            </a:cxnLst>
            <a:rect l="0" t="0" r="0" b="0"/>
            <a:pathLst>
              <a:path w="3360" h="1632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Forme libre 31"/>
          <p:cNvSpPr/>
          <p:nvPr/>
        </p:nvSpPr>
        <p:spPr bwMode="auto">
          <a:xfrm>
            <a:off x="366713" y="2438400"/>
            <a:ext cx="5638800" cy="1828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152"/>
              </a:cxn>
              <a:cxn ang="0">
                <a:pos x="0" y="384"/>
              </a:cxn>
              <a:cxn ang="0">
                <a:pos x="0" y="0"/>
              </a:cxn>
            </a:cxnLst>
            <a:rect l="0" t="0" r="0" b="0"/>
            <a:pathLst>
              <a:path w="3552" h="11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3" name="Forme libre 32"/>
          <p:cNvSpPr/>
          <p:nvPr/>
        </p:nvSpPr>
        <p:spPr bwMode="auto">
          <a:xfrm>
            <a:off x="366713" y="2133600"/>
            <a:ext cx="5638800" cy="21336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3552" y="1344"/>
              </a:cxn>
              <a:cxn ang="0">
                <a:pos x="0" y="48"/>
              </a:cxn>
              <a:cxn ang="0">
                <a:pos x="0" y="0"/>
              </a:cxn>
            </a:cxnLst>
            <a:rect l="0" t="0" r="0" b="0"/>
            <a:pathLst>
              <a:path w="3552" h="1344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tint val="95000"/>
              <a:satMod val="20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4" name="Forme libre 33"/>
          <p:cNvSpPr/>
          <p:nvPr/>
        </p:nvSpPr>
        <p:spPr bwMode="auto">
          <a:xfrm>
            <a:off x="4572000" y="4267200"/>
            <a:ext cx="1371600" cy="25908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632"/>
              </a:cxn>
              <a:cxn ang="0">
                <a:pos x="96" y="1632"/>
              </a:cxn>
              <a:cxn ang="0">
                <a:pos x="864" y="0"/>
              </a:cxn>
              <a:cxn ang="0">
                <a:pos x="0" y="1632"/>
              </a:cxn>
            </a:cxnLst>
            <a:rect l="0" t="0" r="0" b="0"/>
            <a:pathLst>
              <a:path w="864" h="1632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chemeClr val="bg2">
              <a:tint val="95000"/>
              <a:satMod val="18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63538" y="401638"/>
            <a:ext cx="8504238" cy="887413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 flipH="1">
            <a:off x="371475" y="681038"/>
            <a:ext cx="2698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7" name="Rectangle 36"/>
          <p:cNvSpPr/>
          <p:nvPr/>
        </p:nvSpPr>
        <p:spPr>
          <a:xfrm flipH="1">
            <a:off x="411163" y="681038"/>
            <a:ext cx="26988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" name="Rectangle 37"/>
          <p:cNvSpPr/>
          <p:nvPr/>
        </p:nvSpPr>
        <p:spPr>
          <a:xfrm flipH="1">
            <a:off x="447675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9" name="Rectangle 38"/>
          <p:cNvSpPr/>
          <p:nvPr/>
        </p:nvSpPr>
        <p:spPr>
          <a:xfrm flipH="1">
            <a:off x="476250" y="681038"/>
            <a:ext cx="9525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00063" y="681038"/>
            <a:ext cx="3651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06902" y="1351672"/>
            <a:ext cx="5718048" cy="977486"/>
          </a:xfrm>
        </p:spPr>
        <p:txBody>
          <a:bodyPr lIns="82296" bIns="0"/>
          <a:lstStyle>
            <a:lvl1pPr marL="5461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06902" y="512064"/>
            <a:ext cx="8156448" cy="777240"/>
          </a:xfrm>
        </p:spPr>
        <p:txBody>
          <a:bodyPr tIns="64008"/>
          <a:lstStyle>
            <a:lvl1pPr algn="l">
              <a:buNone/>
              <a:defRPr sz="3800" b="0" cap="none" spc="-150" baseline="0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41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06C8C70-EDB3-4930-A41C-9A10ED4DE9A8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2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3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p>
            <a:pPr>
              <a:buNone/>
            </a:pPr>
            <a:fld id="{9A0DB2DC-4C9A-4742-B13C-FB6460FD3503}" type="slidenum">
              <a:rPr lang="fr-FR" dirty="0">
                <a:latin typeface="Corbel" panose="020B0503020204020204" pitchFamily="34" charset="0"/>
              </a:rPr>
            </a:fld>
            <a:endParaRPr lang="fr-FR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512064"/>
            <a:ext cx="8229600" cy="9144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64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55344" y="17705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18" name="Espace réservé de la date 4"/>
          <p:cNvSpPr>
            <a:spLocks noGrp="1"/>
          </p:cNvSpPr>
          <p:nvPr>
            <p:ph type="dt" sz="half" idx="1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36F11FB-EA36-481C-915E-D52671046AA8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Espace réservé du numéro de diapositive 6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p>
            <a:pPr>
              <a:buNone/>
            </a:pPr>
            <a:fld id="{9A0DB2DC-4C9A-4742-B13C-FB6460FD3503}" type="slidenum">
              <a:rPr lang="fr-FR" dirty="0">
                <a:latin typeface="Corbel" panose="020B0503020204020204" pitchFamily="34" charset="0"/>
              </a:rPr>
            </a:fld>
            <a:endParaRPr lang="fr-FR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401638"/>
            <a:ext cx="8867775" cy="887413"/>
          </a:xfrm>
          <a:prstGeom prst="rect">
            <a:avLst/>
          </a:prstGeom>
          <a:solidFill>
            <a:schemeClr val="bg2">
              <a:tint val="95000"/>
              <a:satMod val="180000"/>
              <a:alpha val="4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7313" y="681038"/>
            <a:ext cx="46038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7625" y="681038"/>
            <a:ext cx="26988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575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" name="Rectangle 24"/>
          <p:cNvSpPr/>
          <p:nvPr/>
        </p:nvSpPr>
        <p:spPr>
          <a:xfrm flipH="1">
            <a:off x="149225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" name="Rectangle 25"/>
          <p:cNvSpPr/>
          <p:nvPr/>
        </p:nvSpPr>
        <p:spPr>
          <a:xfrm flipH="1">
            <a:off x="188913" y="681038"/>
            <a:ext cx="2857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 flipH="1">
            <a:off x="227013" y="681038"/>
            <a:ext cx="9525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 flipH="1">
            <a:off x="255588" y="681038"/>
            <a:ext cx="7938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79400" y="681038"/>
            <a:ext cx="36513" cy="365125"/>
          </a:xfrm>
          <a:prstGeom prst="rect">
            <a:avLst/>
          </a:prstGeom>
          <a:solidFill>
            <a:schemeClr val="bg2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04824" y="512064"/>
            <a:ext cx="7772400" cy="914400"/>
          </a:xfrm>
        </p:spPr>
        <p:txBody>
          <a:bodyPr/>
          <a:lstStyle>
            <a:lvl1pPr>
              <a:defRPr sz="4000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809750"/>
            <a:ext cx="4040188" cy="639762"/>
          </a:xfrm>
        </p:spPr>
        <p:txBody>
          <a:bodyPr anchor="ctr"/>
          <a:lstStyle>
            <a:lvl1pPr marL="73025" indent="0" algn="l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 hasCustomPrompt="1"/>
          </p:nvPr>
        </p:nvSpPr>
        <p:spPr>
          <a:xfrm>
            <a:off x="4645025" y="1809750"/>
            <a:ext cx="4041775" cy="639762"/>
          </a:xfrm>
        </p:spPr>
        <p:txBody>
          <a:bodyPr anchor="ctr"/>
          <a:lstStyle>
            <a:lvl1pPr marL="73025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 hasCustomPrompt="1"/>
          </p:nvPr>
        </p:nvSpPr>
        <p:spPr>
          <a:xfrm>
            <a:off x="457200" y="2459037"/>
            <a:ext cx="4040188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459037"/>
            <a:ext cx="4041775" cy="39593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30" name="Espace réservé de la date 6"/>
          <p:cNvSpPr>
            <a:spLocks noGrp="1"/>
          </p:cNvSpPr>
          <p:nvPr>
            <p:ph type="dt" sz="half" idx="1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201D2F2-D08D-4E5A-A1DD-13C29ADE6745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" name="Espace réservé du pied de page 7"/>
          <p:cNvSpPr>
            <a:spLocks noGrp="1"/>
          </p:cNvSpPr>
          <p:nvPr>
            <p:ph type="ftr" sz="quarter" idx="1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Espace réservé du numéro de diapositive 8"/>
          <p:cNvSpPr>
            <a:spLocks noGrp="1"/>
          </p:cNvSpPr>
          <p:nvPr>
            <p:ph type="sldNum" sz="quarter" idx="1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p>
            <a:pPr>
              <a:buNone/>
            </a:pPr>
            <a:fld id="{9A0DB2DC-4C9A-4742-B13C-FB6460FD3503}" type="slidenum">
              <a:rPr lang="fr-FR" dirty="0">
                <a:latin typeface="Corbel" panose="020B0503020204020204" pitchFamily="34" charset="0"/>
              </a:rPr>
            </a:fld>
            <a:endParaRPr lang="fr-FR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512064"/>
            <a:ext cx="7772400" cy="914400"/>
          </a:xfrm>
        </p:spPr>
        <p:txBody>
          <a:bodyPr/>
          <a:lstStyle>
            <a:lvl1pPr>
              <a:defRPr sz="4000" cap="none" baseline="0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3DAB3A-CE85-4137-9903-3D3C99355476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fr-FR" dirty="0"/>
            </a:fld>
            <a:endParaRPr lang="fr-F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D9F0442-10FB-4F12-823E-D80362DDEC13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p>
            <a:pPr>
              <a:buNone/>
            </a:pPr>
            <a:fld id="{9A0DB2DC-4C9A-4742-B13C-FB6460FD3503}" type="slidenum">
              <a:rPr lang="fr-FR" dirty="0">
                <a:latin typeface="Corbel" panose="020B0503020204020204" pitchFamily="34" charset="0"/>
              </a:rPr>
            </a:fld>
            <a:endParaRPr lang="fr-FR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85800" y="273050"/>
            <a:ext cx="8229600" cy="1162050"/>
          </a:xfrm>
        </p:spPr>
        <p:txBody>
          <a:bodyPr anchor="ctr"/>
          <a:lstStyle>
            <a:lvl1pPr algn="l">
              <a:buNone/>
              <a:defRPr sz="3600" b="0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 hasCustomPrompt="1"/>
          </p:nvPr>
        </p:nvSpPr>
        <p:spPr>
          <a:xfrm>
            <a:off x="685800" y="1435100"/>
            <a:ext cx="2514600" cy="4572000"/>
          </a:xfrm>
        </p:spPr>
        <p:txBody>
          <a:bodyPr/>
          <a:lstStyle>
            <a:lvl1pPr marL="5461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 hasCustomPrompt="1"/>
          </p:nvPr>
        </p:nvSpPr>
        <p:spPr>
          <a:xfrm>
            <a:off x="3429000" y="1435100"/>
            <a:ext cx="54864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3DAB3A-CE85-4137-9903-3D3C99355476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fr-FR" dirty="0"/>
            </a:fld>
            <a:endParaRPr lang="fr-F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68300" y="0"/>
            <a:ext cx="8777288" cy="1878013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9" name="Connecteur droit 18"/>
          <p:cNvCxnSpPr/>
          <p:nvPr/>
        </p:nvCxnSpPr>
        <p:spPr>
          <a:xfrm flipV="1">
            <a:off x="363538" y="1884363"/>
            <a:ext cx="8782050" cy="0"/>
          </a:xfrm>
          <a:prstGeom prst="line">
            <a:avLst/>
          </a:prstGeom>
          <a:noFill/>
          <a:ln w="19050" cap="flat" cmpd="sng" algn="ctr">
            <a:solidFill>
              <a:srgbClr val="FFFFFF">
                <a:alpha val="100000"/>
              </a:srgbClr>
            </a:soli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81" name="Groupe 19"/>
          <p:cNvGrpSpPr/>
          <p:nvPr/>
        </p:nvGrpSpPr>
        <p:grpSpPr>
          <a:xfrm rot="5400000">
            <a:off x="8515350" y="1219200"/>
            <a:ext cx="131763" cy="128588"/>
            <a:chOff x="6668087" y="1297746"/>
            <a:chExt cx="161840" cy="156602"/>
          </a:xfrm>
        </p:grpSpPr>
        <p:cxnSp>
          <p:nvCxnSpPr>
            <p:cNvPr id="21" name="Connecteur droit 20"/>
            <p:cNvCxnSpPr/>
            <p:nvPr/>
          </p:nvCxnSpPr>
          <p:spPr>
            <a:xfrm rot="16200000">
              <a:off x="6663593" y="1298375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 rot="5400000" flipH="1">
              <a:off x="6744513" y="1297400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82" name="Groupe 25"/>
          <p:cNvGrpSpPr/>
          <p:nvPr/>
        </p:nvGrpSpPr>
        <p:grpSpPr>
          <a:xfrm rot="5400000">
            <a:off x="8667750" y="1371600"/>
            <a:ext cx="131763" cy="128588"/>
            <a:chOff x="6668087" y="1297746"/>
            <a:chExt cx="161840" cy="156602"/>
          </a:xfrm>
        </p:grpSpPr>
        <p:cxnSp>
          <p:nvCxnSpPr>
            <p:cNvPr id="27" name="Connecteur droit 26"/>
            <p:cNvCxnSpPr/>
            <p:nvPr/>
          </p:nvCxnSpPr>
          <p:spPr>
            <a:xfrm rot="16200000">
              <a:off x="6663593" y="1298375"/>
              <a:ext cx="88935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/>
            <p:cNvCxnSpPr/>
            <p:nvPr/>
          </p:nvCxnSpPr>
          <p:spPr>
            <a:xfrm rot="16200000" flipV="1">
              <a:off x="6685198" y="1391515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 rot="5400000" flipH="1">
              <a:off x="6744513" y="1297400"/>
              <a:ext cx="88935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83" name="Groupe 29"/>
          <p:cNvGrpSpPr/>
          <p:nvPr/>
        </p:nvGrpSpPr>
        <p:grpSpPr>
          <a:xfrm rot="5400000">
            <a:off x="8320088" y="1474788"/>
            <a:ext cx="131762" cy="128587"/>
            <a:chOff x="6668087" y="1297746"/>
            <a:chExt cx="161840" cy="156602"/>
          </a:xfrm>
        </p:grpSpPr>
        <p:cxnSp>
          <p:nvCxnSpPr>
            <p:cNvPr id="31" name="Connecteur droit 30"/>
            <p:cNvCxnSpPr/>
            <p:nvPr/>
          </p:nvCxnSpPr>
          <p:spPr>
            <a:xfrm rot="16200000">
              <a:off x="6663592" y="1298374"/>
              <a:ext cx="88934" cy="7994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/>
            <p:cNvCxnSpPr/>
            <p:nvPr/>
          </p:nvCxnSpPr>
          <p:spPr>
            <a:xfrm rot="16200000" flipV="1">
              <a:off x="6685198" y="1391513"/>
              <a:ext cx="125668" cy="0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 rot="5400000" flipH="1">
              <a:off x="6744512" y="1297399"/>
              <a:ext cx="88934" cy="81895"/>
            </a:xfrm>
            <a:prstGeom prst="line">
              <a:avLst/>
            </a:prstGeom>
            <a:noFill/>
            <a:ln w="25400" cap="rnd" cmpd="sng" algn="ctr">
              <a:solidFill>
                <a:srgbClr val="FFFFFF">
                  <a:alpha val="100000"/>
                </a:srgbClr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White">
          <a:xfrm>
            <a:off x="914400" y="441251"/>
            <a:ext cx="6858000" cy="701749"/>
          </a:xfrm>
        </p:spPr>
        <p:txBody>
          <a:bodyPr anchor="b"/>
          <a:lstStyle>
            <a:lvl1pPr algn="l">
              <a:buNone/>
              <a:defRPr sz="2100" b="0"/>
            </a:lvl1pPr>
          </a:lstStyle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68032" y="1893781"/>
            <a:ext cx="8778240" cy="4960144"/>
          </a:xfrm>
          <a:solidFill>
            <a:schemeClr val="bg2"/>
          </a:solidFill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marL="0" indent="0">
              <a:buNone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 bwMode="grayWhite">
          <a:xfrm>
            <a:off x="914400" y="1150144"/>
            <a:ext cx="6858000" cy="685800"/>
          </a:xfrm>
        </p:spPr>
        <p:txBody>
          <a:bodyPr/>
          <a:lstStyle>
            <a:lvl1pPr marL="27305" indent="0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</p:txBody>
      </p:sp>
      <p:sp>
        <p:nvSpPr>
          <p:cNvPr id="34" name="Espace réservé de la date 4"/>
          <p:cNvSpPr>
            <a:spLocks noGrp="1"/>
          </p:cNvSpPr>
          <p:nvPr>
            <p:ph type="dt" sz="half" idx="12"/>
          </p:nvPr>
        </p:nvSpPr>
        <p:spPr>
          <a:xfrm>
            <a:off x="6477000" y="55563"/>
            <a:ext cx="2133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026D71B-BF04-4AA3-AB4D-DF984CA75E39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5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914400" y="55563"/>
            <a:ext cx="5562600" cy="365125"/>
          </a:xfrm>
          <a:prstGeom prst="rect">
            <a:avLst/>
          </a:prstGeom>
        </p:spPr>
        <p:txBody>
          <a:bodyPr vert="horz" anchor="b"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Espace réservé du numéro de diapositive 6"/>
          <p:cNvSpPr>
            <a:spLocks noGrp="1"/>
          </p:cNvSpPr>
          <p:nvPr>
            <p:ph type="sldNum" sz="quarter" idx="4"/>
          </p:nvPr>
        </p:nvSpPr>
        <p:spPr>
          <a:xfrm>
            <a:off x="8610600" y="55563"/>
            <a:ext cx="457200" cy="365125"/>
          </a:xfrm>
          <a:prstGeom prst="rect">
            <a:avLst/>
          </a:prstGeom>
        </p:spPr>
        <p:txBody>
          <a:bodyPr vert="horz" anchor="b"/>
          <a:p>
            <a:pPr>
              <a:buNone/>
            </a:pPr>
            <a:fld id="{9A0DB2DC-4C9A-4742-B13C-FB6460FD3503}" type="slidenum">
              <a:rPr lang="fr-FR" dirty="0">
                <a:latin typeface="Corbel" panose="020B0503020204020204" pitchFamily="34" charset="0"/>
              </a:rPr>
            </a:fld>
            <a:endParaRPr lang="fr-FR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3DAB3A-CE85-4137-9903-3D3C99355476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fr-FR" dirty="0"/>
            </a:fld>
            <a:endParaRPr lang="fr-F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9"/>
            <a:ext cx="1981200" cy="5851525"/>
          </a:xfrm>
        </p:spPr>
        <p:txBody>
          <a:bodyPr vert="eaVert" anchor="ctr"/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639"/>
            <a:ext cx="5867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3DAB3A-CE85-4137-9903-3D3C99355476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fr-FR" dirty="0"/>
            </a:fld>
            <a:endParaRPr lang="fr-FR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2">
        <a:schemeClr val="bg2"/>
      </p:bgRef>
    </p:bg>
    <p:spTree>
      <p:nvGrpSpPr>
        <p:cNvPr id="1" name=""/>
        <p:cNvGrpSpPr/>
        <p:nvPr/>
      </p:nvGrpSpPr>
      <p:grpSpPr/>
      <p:sp>
        <p:nvSpPr>
          <p:cNvPr id="7" name="Rectangle 6"/>
          <p:cNvSpPr/>
          <p:nvPr/>
        </p:nvSpPr>
        <p:spPr>
          <a:xfrm>
            <a:off x="0" y="0"/>
            <a:ext cx="365125" cy="6854825"/>
          </a:xfrm>
          <a:prstGeom prst="rect">
            <a:avLst/>
          </a:prstGeom>
          <a:solidFill>
            <a:srgbClr val="FFFFFF">
              <a:alpha val="100000"/>
            </a:srgb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55588" y="5046663"/>
            <a:ext cx="73025" cy="169227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55588" y="4797425"/>
            <a:ext cx="73025" cy="228600"/>
          </a:xfrm>
          <a:prstGeom prst="rect">
            <a:avLst/>
          </a:prstGeom>
          <a:solidFill>
            <a:schemeClr val="accent3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5588" y="4637088"/>
            <a:ext cx="73025" cy="138113"/>
          </a:xfrm>
          <a:prstGeom prst="rect">
            <a:avLst/>
          </a:prstGeom>
          <a:solidFill>
            <a:schemeClr val="bg2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5588" y="4541838"/>
            <a:ext cx="73025" cy="74613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9563" y="681038"/>
            <a:ext cx="460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8288" y="681038"/>
            <a:ext cx="2857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49238" y="681038"/>
            <a:ext cx="9525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22250" y="681038"/>
            <a:ext cx="7938" cy="365125"/>
          </a:xfrm>
          <a:prstGeom prst="rect">
            <a:avLst/>
          </a:prstGeom>
          <a:solidFill>
            <a:srgbClr val="000000">
              <a:alpha val="10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512763"/>
            <a:ext cx="7772400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lang="fr-FR" smtClean="0"/>
              <a:t>Cliquez pour modifier le style du titre</a:t>
            </a:r>
            <a:endParaRPr lang="en-US"/>
          </a:p>
        </p:txBody>
      </p:sp>
      <p:sp>
        <p:nvSpPr>
          <p:cNvPr id="1036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784350"/>
            <a:ext cx="7772400" cy="4572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Cliquez pour modifier les styles du texte du masque</a:t>
            </a:r>
            <a:endParaRPr dirty="0"/>
          </a:p>
          <a:p>
            <a:pPr lvl="1"/>
            <a:r>
              <a:rPr dirty="0"/>
              <a:t>Deuxième niveau</a:t>
            </a:r>
            <a:endParaRPr dirty="0"/>
          </a:p>
          <a:p>
            <a:pPr lvl="2"/>
            <a:r>
              <a:rPr dirty="0"/>
              <a:t>Troisième niveau</a:t>
            </a:r>
            <a:endParaRPr dirty="0"/>
          </a:p>
          <a:p>
            <a:pPr lvl="3"/>
            <a:r>
              <a:rPr dirty="0"/>
              <a:t>Quatrième niveau</a:t>
            </a:r>
            <a:endParaRPr dirty="0"/>
          </a:p>
          <a:p>
            <a:pPr lvl="4"/>
            <a:r>
              <a:rPr dirty="0"/>
              <a:t>Cinquième niveau</a:t>
            </a:r>
            <a:endParaRPr lang="en-US" altLang="x-none" dirty="0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1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53DAB3A-CE85-4137-9903-3D3C99355476}" type="datetimeFigureOut"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1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>
              <a:defRPr sz="1200">
                <a:solidFill>
                  <a:schemeClr val="tx2"/>
                </a:solidFill>
                <a:latin typeface="Corbel" panose="020B0503020204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fr-FR" dirty="0"/>
            </a:fld>
            <a:endParaRPr lang="fr-FR" dirty="0">
              <a:latin typeface="Arial" panose="020B0604020202020204" pitchFamily="34" charset="0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rgbClr val="C1EE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C1EEFF"/>
          </a:solidFill>
          <a:latin typeface="Consolas" panose="020B0609020204030204" pitchFamily="49" charset="0"/>
        </a:defRPr>
      </a:lvl9pPr>
    </p:titleStyle>
    <p:bodyStyle>
      <a:lvl1pPr marL="411480" indent="-342900" algn="l" rtl="0" eaLnBrk="0" fontAlgn="base" hangingPunct="0">
        <a:spcBef>
          <a:spcPts val="700"/>
        </a:spcBef>
        <a:spcAft>
          <a:spcPct val="0"/>
        </a:spcAft>
        <a:buClr>
          <a:schemeClr val="tx2"/>
        </a:buClr>
        <a:buSzPct val="95000"/>
        <a:buFont typeface="Wingdings" panose="05000000000000000000" pitchFamily="2" charset="2"/>
        <a:buChar char="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39775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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8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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0475" indent="-22860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3" panose="05040102010807070707" pitchFamily="18" charset="2"/>
        <a:buChar char="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455" indent="-20955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0055" indent="-210185" algn="l" rtl="0" eaLnBrk="1" latinLnBrk="0" hangingPunct="1">
        <a:spcBef>
          <a:spcPct val="20000"/>
        </a:spcBef>
        <a:buClr>
          <a:schemeClr val="accent3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825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423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 panose="05020102010507070707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hyperlink" Target="https://fr.wikipedia.org/wiki/Inondation" TargetMode="External"/><Relationship Id="rId6" Type="http://schemas.openxmlformats.org/officeDocument/2006/relationships/hyperlink" Target="https://fr.wikipedia.org/wiki/Perturbation_%C3%A9cologique" TargetMode="External"/><Relationship Id="rId5" Type="http://schemas.openxmlformats.org/officeDocument/2006/relationships/hyperlink" Target="https://fr.wikipedia.org/wiki/Vie" TargetMode="External"/><Relationship Id="rId4" Type="http://schemas.openxmlformats.org/officeDocument/2006/relationships/hyperlink" Target="https://fr.wikipedia.org/wiki/Biotope" TargetMode="External"/><Relationship Id="rId3" Type="http://schemas.openxmlformats.org/officeDocument/2006/relationships/hyperlink" Target="https://fr.wikipedia.org/wiki/V%C3%A9g%C3%A9tal" TargetMode="Externa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noFill/>
          <a:ln>
            <a:noFill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anchor="t">
            <a:noAutofit/>
          </a:bodyPr>
          <a:lstStyle/>
          <a:p>
            <a:pPr marL="0" marR="889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000" b="1" i="0" u="none" strike="noStrike" kern="1200" cap="all" spc="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Chapitre II</a:t>
            </a:r>
            <a:endParaRPr kumimoji="0" lang="fr-FR" sz="4000" b="1" i="0" u="none" strike="noStrike" kern="1200" cap="all" spc="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>
                <a:reflection blurRad="12700" stA="34000" endA="740" endPos="530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5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835275"/>
            <a:ext cx="7772400" cy="1508125"/>
          </a:xfrm>
          <a:solidFill>
            <a:schemeClr val="accent6"/>
          </a:solidFill>
        </p:spPr>
        <p:txBody>
          <a:bodyPr vert="horz" wrap="square" lIns="100584" tIns="45720" rIns="91440" bIns="45720" numCol="1" anchor="b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Ecologies des </a:t>
            </a:r>
            <a:r>
              <a:rPr kumimoji="0" lang="fr-FR" sz="4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communautés</a:t>
            </a:r>
            <a:endParaRPr kumimoji="0" lang="fr-FR" sz="4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285750"/>
            <a:ext cx="7015163" cy="914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Qu'est ce qu'une communauté écologique?</a:t>
            </a:r>
            <a:br>
              <a:rPr kumimoji="0" lang="fr-FR" sz="24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fr-FR" sz="2400" b="0" i="0" u="none" strike="noStrike" kern="1200" cap="none" spc="-10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921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28625" y="1712913"/>
            <a:ext cx="8643938" cy="2144713"/>
          </a:xfrm>
          <a:solidFill>
            <a:schemeClr val="accent6">
              <a:lumMod val="40000"/>
              <a:lumOff val="6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L’ensemble de populations (animales, végétales et micro organisme) qui vivent dans une aire donnée, à un moment donné, et qui interagissent.</a:t>
            </a:r>
            <a:endParaRPr kumimoji="0" lang="fr-FR" sz="3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endParaRPr kumimoji="0" lang="fr-FR" sz="3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8688" y="4429125"/>
            <a:ext cx="7929563" cy="12001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plantes, les animaux et les microorganismes d'une communauté sont liés par des relations alimentaires (qui consomme qui?) et par d'autres types d'interactions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anchor="t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II. Les interactions dans une communautés</a:t>
            </a:r>
            <a:br>
              <a:rPr kumimoji="0" lang="fr-FR" sz="32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fr-FR" sz="32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Interactions </a:t>
            </a:r>
            <a:r>
              <a:rPr kumimoji="0" lang="fr-FR" sz="3200" b="1" i="0" u="none" strike="noStrike" kern="1200" cap="none" spc="-10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des êtres vivants entre eux : </a:t>
            </a:r>
            <a:endParaRPr kumimoji="0" lang="fr-FR" sz="3200" b="0" i="0" u="none" strike="noStrike" kern="1200" cap="none" spc="-10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267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914400" y="2212975"/>
            <a:ext cx="7772400" cy="3359150"/>
          </a:xfrm>
          <a:solidFill>
            <a:schemeClr val="accent2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/>
            </a:pP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 sein d’un écosystème, les êtres vivants </a:t>
            </a:r>
            <a:r>
              <a:rPr kumimoji="0" lang="fr-FR" sz="3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interagissent</a:t>
            </a: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les uns avec les autres.</a:t>
            </a:r>
            <a:endParaRPr kumimoji="0" lang="fr-FR" sz="3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/>
            </a:pP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Ces interactions </a:t>
            </a:r>
            <a:r>
              <a:rPr kumimoji="0" lang="fr-FR" sz="3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régulent leur fonctionnement </a:t>
            </a: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(accès aux ressources) et </a:t>
            </a:r>
            <a:r>
              <a:rPr kumimoji="0" lang="fr-FR" sz="30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ajustent</a:t>
            </a: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les dynamiques de leurs populations. </a:t>
            </a:r>
            <a:endParaRPr kumimoji="0" lang="fr-FR" sz="3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Char char=""/>
              <a:defRPr/>
            </a:pPr>
            <a:endParaRPr kumimoji="0" lang="fr-FR" sz="3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endParaRPr kumimoji="0" lang="fr-FR" sz="3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742950" y="428625"/>
            <a:ext cx="8258175" cy="1214438"/>
          </a:xfrm>
          <a:solidFill>
            <a:schemeClr val="accent6">
              <a:lumMod val="20000"/>
              <a:lumOff val="80000"/>
            </a:schemeClr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plusieurs grands types d’interactions peuvent être identifiées au sein d’une communauté  : </a:t>
            </a:r>
            <a:endParaRPr kumimoji="0" lang="fr-FR" sz="30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endParaRPr kumimoji="0" lang="fr-FR" sz="3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22700" y="2214563"/>
            <a:ext cx="1535113" cy="4000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Interactions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500188" y="4000500"/>
            <a:ext cx="2071688" cy="4000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Interspécifiques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00125" y="5072063"/>
            <a:ext cx="2659063" cy="400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Avec les </a:t>
            </a:r>
            <a:r>
              <a:rPr kumimoji="0" lang="fr-FR" sz="20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autres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espèces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23000" y="4929188"/>
            <a:ext cx="2420938" cy="4000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Avec la </a:t>
            </a:r>
            <a:r>
              <a:rPr kumimoji="0" lang="fr-FR" sz="20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même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espèce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57938" y="3857625"/>
            <a:ext cx="2071688" cy="40005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Intra spécifiques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cxnSp>
        <p:nvCxnSpPr>
          <p:cNvPr id="10" name="Connecteur droit avec flèche 9"/>
          <p:cNvCxnSpPr/>
          <p:nvPr/>
        </p:nvCxnSpPr>
        <p:spPr>
          <a:xfrm rot="5400000">
            <a:off x="2857488" y="3143248"/>
            <a:ext cx="1000132" cy="42862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/>
          <p:cNvCxnSpPr/>
          <p:nvPr/>
        </p:nvCxnSpPr>
        <p:spPr>
          <a:xfrm rot="16200000" flipH="1">
            <a:off x="5357818" y="3000372"/>
            <a:ext cx="1071570" cy="64294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/>
          <p:nvPr/>
        </p:nvCxnSpPr>
        <p:spPr>
          <a:xfrm rot="5400000">
            <a:off x="2249471" y="4679165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rot="5400000">
            <a:off x="7036611" y="4607727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928688" y="571500"/>
            <a:ext cx="7572375" cy="114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anchor="t">
            <a:normAutofit fontScale="90000"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800" b="1" i="0" u="none" strike="noStrike" kern="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Interaction Intra spécifiques</a:t>
            </a:r>
            <a:br>
              <a:rPr kumimoji="0" lang="fr-FR" sz="2800" b="1" i="0" u="sng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fr-FR" sz="2800" b="1" i="0" u="sng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r>
              <a:rPr kumimoji="0" lang="fr-FR" sz="2800" b="1" i="0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La compétition intra spécifique   </a:t>
            </a:r>
            <a:br>
              <a:rPr kumimoji="0" lang="fr-FR" sz="2800" b="0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fr-FR" sz="1800" b="0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itre 1"/>
          <p:cNvSpPr txBox="1"/>
          <p:nvPr/>
        </p:nvSpPr>
        <p:spPr bwMode="auto">
          <a:xfrm>
            <a:off x="857250" y="2214563"/>
            <a:ext cx="7467600" cy="12858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Interaction interspécifique</a:t>
            </a:r>
            <a:br>
              <a:rPr kumimoji="0" lang="fr-FR" sz="2400" b="1" i="0" u="sng" strike="noStrike" kern="120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r>
              <a:rPr kumimoji="0" lang="fr-FR" sz="2400" b="1" i="0" u="sng" strike="noStrike" kern="120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A. La compétition interspécifique </a:t>
            </a:r>
            <a:br>
              <a:rPr kumimoji="0" lang="fr-FR" sz="2400" b="0" i="0" u="sng" strike="noStrike" kern="1200" cap="none" spc="-1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fr-FR" sz="1800" b="0" i="0" u="sng" strike="noStrike" kern="1200" cap="none" spc="-10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357158" y="3857628"/>
            <a:ext cx="8786842" cy="1571636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1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principe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 </a:t>
            </a:r>
            <a:r>
              <a:rPr kumimoji="0" lang="fr-FR" sz="2400" b="1" i="0" u="sng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Gause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ou principe d’exclusion </a:t>
            </a: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compétitive.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deux espèces 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ayant exactement les </a:t>
            </a: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mêmes besoins 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ne peuvent cohabiter, l’une d’elle étant forcément </a:t>
            </a: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éliminée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au bout d’un certain temps.</a:t>
            </a:r>
            <a:endParaRPr kumimoji="0" lang="fr-FR" sz="2400" b="0" i="0" u="none" strike="noStrike" kern="1200" cap="none" spc="0" normalizeH="0" baseline="0" noProof="0" dirty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274638"/>
            <a:ext cx="7467600" cy="1143000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8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C. La prédation </a:t>
            </a:r>
            <a:br>
              <a:rPr kumimoji="0" lang="fr-FR" sz="28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fr-FR" sz="1800" b="0" i="0" u="none" strike="noStrike" kern="1200" cap="none" spc="-10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3315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57200" y="1214438"/>
            <a:ext cx="7467600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prédateur est tout organisme libre qui se nourrit aux dépend d’un autre.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tue sa proie pour la manger.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3316" name="Picture 2" descr="https://lamaisondalzaz.files.wordpress.com/2010/05/lions-attaquant-un-zebre.jpg?w=450&amp;h=29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6313" y="3957638"/>
            <a:ext cx="4286250" cy="2828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7" name="Rectangle 6"/>
          <p:cNvSpPr/>
          <p:nvPr/>
        </p:nvSpPr>
        <p:spPr>
          <a:xfrm>
            <a:off x="428625" y="3071813"/>
            <a:ext cx="5072063" cy="2678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Rôles de la Prédation :</a:t>
            </a:r>
            <a:endParaRPr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nutrition</a:t>
            </a:r>
            <a:endParaRPr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élimination des animaux malades : </a:t>
            </a:r>
            <a:endParaRPr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 des peuplements 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2800" u="sng" dirty="0">
              <a:latin typeface="Corbel" panose="020B0503020204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r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274638"/>
            <a:ext cx="7467600" cy="1143000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sng" strike="noStrike" kern="1200" cap="none" spc="-10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D. Le parasitisme</a:t>
            </a:r>
            <a:br>
              <a:rPr kumimoji="0" lang="fr-FR" sz="2400" b="0" i="0" u="sng" strike="noStrike" kern="1200" cap="none" spc="-10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fr-FR" sz="1800" b="0" i="0" u="sng" strike="noStrike" kern="1200" cap="none" spc="-100" normalizeH="0" baseline="0" noProof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433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14313" y="1143000"/>
            <a:ext cx="8786812" cy="452596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peut considérer le parasitisme comme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cas </a:t>
            </a:r>
            <a:r>
              <a:rPr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particulier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prédation.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Cependant, le </a:t>
            </a:r>
            <a:r>
              <a:rPr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parasite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n'est pas vraiment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prédateur car il n'a pas pour but de </a:t>
            </a:r>
            <a:r>
              <a:rPr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tuer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l'hôt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4340" name="Picture 2" descr="https://lamaisondalzaz.files.wordpress.com/2010/05/hyperparasitisme-oeufs-dichneumon-parasitant-une-chenille-exfoliatrice.jpg?w=359&amp;h=3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5975" y="142875"/>
            <a:ext cx="3248025" cy="2786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à coins arrondis 6"/>
          <p:cNvSpPr/>
          <p:nvPr/>
        </p:nvSpPr>
        <p:spPr>
          <a:xfrm>
            <a:off x="1285875" y="3214688"/>
            <a:ext cx="7286625" cy="1714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 parasite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doit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s'adapter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pour rencontrer l'hôte et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survivre au détriment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 ce dernier. Et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L'hôte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doit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s'adapter.</a:t>
            </a:r>
            <a:endParaRPr kumimoji="0" lang="fr-FR" sz="2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4342" name="Picture 2" descr="https://lamaisondalzaz.files.wordpress.com/2010/05/orobanches.jpg?w=450&amp;h=3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4572000"/>
            <a:ext cx="3357563" cy="228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7467600" cy="1143000"/>
          </a:xfrm>
        </p:spPr>
        <p:txBody>
          <a:bodyPr vert="horz" anchor="t">
            <a:normAutofit fontScale="90000"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LES RELATIONS FAVORABLES</a:t>
            </a:r>
            <a:b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B. Le neutralisme </a:t>
            </a:r>
            <a:br>
              <a:rPr kumimoji="0" lang="fr-FR" sz="2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sp>
        <p:nvSpPr>
          <p:cNvPr id="1536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57200" y="2117725"/>
            <a:ext cx="8472488" cy="3454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parle de neutralisme lorsque les </a:t>
            </a:r>
            <a:r>
              <a:rPr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 espèces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sont </a:t>
            </a:r>
            <a:r>
              <a:rPr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indépendantes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(absence de toute trace d'association)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mais elles cohabitent sans avoir aucune influence l’une sur l’autre.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Exp:  </a:t>
            </a:r>
            <a:r>
              <a:rPr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chamois et bouquetins en montagne.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5364" name="Picture 2" descr="http://media3.picsearch.com/is?01kTiR5TtYkKJEt7NuF8EatQDkbyAbrVioeyIO6KtTc&amp;height=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6313" y="71438"/>
            <a:ext cx="2987675" cy="1857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7467600" cy="868363"/>
          </a:xfr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-1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RELATIONS   FAVORABLES</a:t>
            </a:r>
            <a:br>
              <a:rPr kumimoji="0" lang="fr-FR" sz="2400" b="0" i="0" u="none" strike="noStrike" kern="1200" cap="none" spc="-1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kumimoji="0" lang="fr-FR" sz="2400" b="1" i="0" u="sng" strike="noStrike" kern="1200" cap="none" spc="-1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E. Le commensalisme </a:t>
            </a:r>
            <a:br>
              <a:rPr kumimoji="0" lang="fr-FR" sz="2000" b="0" i="0" u="sng" strike="noStrike" kern="1200" cap="none" spc="-1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fr-FR" sz="2000" b="0" i="0" u="sng" strike="noStrike" kern="1200" cap="none" spc="-10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387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188" y="1331913"/>
            <a:ext cx="8572500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entre une espèce,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dite </a:t>
            </a:r>
            <a:r>
              <a:rPr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commensale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qui en tire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profit de l’association et une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espèce </a:t>
            </a:r>
            <a:r>
              <a:rPr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hôte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 </a:t>
            </a:r>
            <a:r>
              <a:rPr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n’en tire ni avantage</a:t>
            </a:r>
            <a:endParaRPr sz="2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 nuisance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(l’hôte fournit une partie de propre nourriture au commensal).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 : </a:t>
            </a: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flore intestinale </a:t>
            </a: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6388" name="Picture 2" descr="https://lamaisondalzaz.files.wordpress.com/2010/05/usnee.jpg?w=400&amp;h=5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688" y="0"/>
            <a:ext cx="3643312" cy="26685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7115175" cy="654050"/>
          </a:xfr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vert="horz" anchor="t">
            <a:no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sng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F. Le mutualisme</a:t>
            </a:r>
            <a:br>
              <a:rPr kumimoji="0" lang="fr-FR" sz="2400" b="0" i="0" u="sng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fr-FR" sz="1800" b="0" i="0" u="sng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1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04838" y="1189038"/>
            <a:ext cx="7467600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une association </a:t>
            </a:r>
            <a:r>
              <a:rPr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obligatoire </a:t>
            </a:r>
            <a:r>
              <a:rPr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bénéfices réciproques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une interaction dans laquelle </a:t>
            </a:r>
            <a:r>
              <a:rPr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deux partenaires trouvent un avantage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 :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graines des arbres doivent être dispersées au loin pour survivre et germer.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Cette dispersion est l’œuvre d’oiseaux, de singes</a:t>
            </a:r>
            <a:r>
              <a:rPr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 en tirent profit de l’arbre (alimentation, abri</a:t>
            </a:r>
            <a:r>
              <a:rPr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…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7467600" cy="1143000"/>
          </a:xfrm>
        </p:spPr>
        <p:txBody>
          <a:bodyPr vert="horz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0" i="0" u="none" strike="noStrike" kern="1200" cap="none" spc="-1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</a:t>
            </a:r>
            <a:r>
              <a:rPr kumimoji="0" lang="fr-FR" sz="3200" b="0" i="0" u="sng" strike="noStrike" kern="1200" cap="none" spc="-10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symbiose</a:t>
            </a:r>
            <a:endParaRPr kumimoji="0" lang="fr-FR" sz="3200" b="0" i="0" u="sng" strike="noStrike" kern="1200" cap="none" spc="-10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8435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57200" y="1214438"/>
            <a:ext cx="7972425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symbiose constitue un phénomène d'association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obligatoire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les organismes qui la pratique et se traduit par un bénéfice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réciproque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buNone/>
            </a:pPr>
            <a:r>
              <a:rPr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C’est la forme la plus évoluée des associations entre espèces </a:t>
            </a:r>
            <a:endParaRPr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cette association, chaque espèce ne peut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survivre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croitre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se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qu’en présence de l’autre.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 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lichens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sont formés par l’association d’une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algue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d’un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champignon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4638"/>
            <a:ext cx="7467600" cy="1143000"/>
          </a:xfr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0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SYMBIOSE</a:t>
            </a:r>
            <a:endParaRPr kumimoji="0" lang="fr-FR" sz="4000" b="0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9459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214313" y="1357313"/>
            <a:ext cx="8643937" cy="4525962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9460" name="Picture 2" descr="https://lamaisondalzaz.files.wordpress.com/2010/05/nodules-a-rhizobium-sur-racines-de-legumineuses.jpg?w=400&amp;h=4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0538" y="2071688"/>
            <a:ext cx="3502025" cy="3429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Flèche droite 6"/>
          <p:cNvSpPr/>
          <p:nvPr/>
        </p:nvSpPr>
        <p:spPr>
          <a:xfrm flipV="1">
            <a:off x="5357813" y="3429000"/>
            <a:ext cx="1857375" cy="214313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1800" b="1" i="0" u="none" strike="noStrike" kern="1200" cap="none" spc="0" normalizeH="0" baseline="0" noProof="0">
              <a:solidFill>
                <a:schemeClr val="accent3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500063" y="3286125"/>
            <a:ext cx="4857750" cy="857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 </a:t>
            </a: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nodosités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racinaires (tumeurs) que forme 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une bactérie filamenteuse  (</a:t>
            </a:r>
            <a:r>
              <a:rPr kumimoji="0" lang="fr-FR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actinobactérie</a:t>
            </a: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), </a:t>
            </a: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0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42875" y="1928813"/>
            <a:ext cx="9001125" cy="9144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0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 . Structure trophique des communautés</a:t>
            </a:r>
            <a:br>
              <a:rPr kumimoji="0" lang="fr-FR" sz="40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fr-FR" sz="4000" b="0" i="0" u="none" strike="noStrike" kern="1200" cap="none" spc="-10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à coins arrondis 3"/>
          <p:cNvSpPr/>
          <p:nvPr/>
        </p:nvSpPr>
        <p:spPr>
          <a:xfrm>
            <a:off x="928688" y="3714752"/>
            <a:ext cx="7643812" cy="192881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 dit qu’il y a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relation trophique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lorsqu’un être  vivant consomme la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matière organique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et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minérale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d’un autre organisme vivant ou mort.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71500" y="785795"/>
            <a:ext cx="8286780" cy="264320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Dans un écosystème, des relations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trophiques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s’établissent.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relations trophiques 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,concernent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relations </a:t>
            </a:r>
            <a:r>
              <a:rPr kumimoji="0" lang="fr-FR" sz="24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alimentaires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entre les êtres vivants d'un écosystème. 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anchor="t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0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A) Chaînes trophiques (alimentaires)</a:t>
            </a:r>
            <a:br>
              <a:rPr kumimoji="0" lang="fr-FR" sz="40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fr-FR" sz="4000" b="0" i="0" u="none" strike="noStrike" kern="1200" cap="none" spc="-10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2531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914400" y="1500188"/>
            <a:ext cx="77724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d'un être vivant dans une chaîne trophique représente son </a:t>
            </a:r>
            <a:r>
              <a:rPr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niveau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trophique.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succession d’organismes dont chacun vit au dépend du précédent.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 écosystème comporte un ensemble d’espèces animales et végétales qui peuvent êtres réparties en trois groupes 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6215063" y="5857875"/>
            <a:ext cx="2428875" cy="642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les décomposeurs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3643313" y="5357813"/>
            <a:ext cx="2428875" cy="6429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consommateurs 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857250" y="4929188"/>
            <a:ext cx="2714625" cy="5715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producteurs</a:t>
            </a:r>
            <a:endParaRPr kumimoji="0" lang="fr-FR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gradFill rotWithShape="1">
            <a:gsLst>
              <a:gs pos="0">
                <a:schemeClr val="accent3">
                  <a:tint val="48000"/>
                  <a:satMod val="138000"/>
                </a:schemeClr>
              </a:gs>
              <a:gs pos="25000">
                <a:schemeClr val="accent3">
                  <a:tint val="85000"/>
                </a:schemeClr>
              </a:gs>
              <a:gs pos="40000">
                <a:schemeClr val="accent3">
                  <a:tint val="92000"/>
                </a:schemeClr>
              </a:gs>
              <a:gs pos="50000">
                <a:schemeClr val="accent3">
                  <a:tint val="93000"/>
                </a:schemeClr>
              </a:gs>
              <a:gs pos="60000">
                <a:schemeClr val="accent3">
                  <a:tint val="92000"/>
                </a:schemeClr>
              </a:gs>
              <a:gs pos="75000">
                <a:schemeClr val="accent3">
                  <a:tint val="83000"/>
                  <a:satMod val="108000"/>
                </a:schemeClr>
              </a:gs>
              <a:gs pos="100000">
                <a:schemeClr val="accent3">
                  <a:tint val="48000"/>
                  <a:satMod val="150000"/>
                </a:schemeClr>
              </a:gs>
            </a:gsLst>
            <a:lin ang="5400000" scaled="0"/>
          </a:gradFill>
          <a:ln w="9525" cmpd="sng">
            <a:noFill/>
            <a:prstDash val="solid"/>
          </a:ln>
          <a:effectLst>
            <a:glow rad="101500">
              <a:schemeClr val="accent3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accent3"/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0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 réseau trophique</a:t>
            </a:r>
            <a:endParaRPr kumimoji="0" lang="fr-FR" sz="4000" b="1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3557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914400" y="1784350"/>
            <a:ext cx="7772400" cy="3287713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réseau trophique se définit comme un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de chaînes alimentaires reliées (relations trophiques)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 elles au sein d’un écosystème et par lesquelles l’énergie et la matière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4000" b="0" i="0" u="none" strike="noStrike" kern="1200" cap="none" spc="-100" normalizeH="0" baseline="0" noProof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4579" name="Espace réservé du contenu 2"/>
          <p:cNvSpPr>
            <a:spLocks noGrp="1"/>
          </p:cNvSpPr>
          <p:nvPr>
            <p:ph idx="1" hasCustomPrompt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/>
            <a:endParaRPr dirty="0"/>
          </a:p>
        </p:txBody>
      </p:sp>
      <p:pic>
        <p:nvPicPr>
          <p:cNvPr id="24580" name="Image 3" descr="Numéris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88" y="357188"/>
            <a:ext cx="8786812" cy="6429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71500" y="1785938"/>
            <a:ext cx="8229600" cy="3697287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composition d'une communauté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sz="28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différentes communautés écologiques peuvent être assez différentes en ce qui concerne: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le </a:t>
            </a:r>
            <a:r>
              <a:rPr sz="2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d'espèces qu'elles contiennent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itre 1"/>
          <p:cNvSpPr txBox="1"/>
          <p:nvPr/>
        </p:nvSpPr>
        <p:spPr>
          <a:xfrm>
            <a:off x="500063" y="214313"/>
            <a:ext cx="8186738" cy="9144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>
            <a:normAutofit fontScale="82500" lnSpcReduction="20000"/>
          </a:bodyPr>
          <a:lstStyle/>
          <a:p>
            <a:pPr marR="0" defTabSz="914400" fontAlgn="auto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000" b="1" u="sng" kern="1200" cap="none" spc="-10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III. La structure des </a:t>
            </a:r>
            <a:r>
              <a:rPr kumimoji="0" lang="fr-FR" sz="4000" b="1" u="sng" kern="1200" cap="none" spc="-100" normalizeH="0" baseline="0" noProof="0" dirty="0" smtClean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communautés</a:t>
            </a:r>
            <a:br>
              <a:rPr kumimoji="0" lang="fr-FR" sz="4000" kern="1200" cap="none" spc="-100" normalizeH="0" baseline="0" noProof="0" dirty="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fr-FR" sz="4000" kern="1200" cap="none" spc="-100" normalizeH="0" baseline="0" noProof="0" dirty="0">
              <a:solidFill>
                <a:schemeClr val="bg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00063" y="285750"/>
            <a:ext cx="8429625" cy="642938"/>
          </a:xfr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None/>
              <a:defRPr/>
            </a:pP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Mesure </a:t>
            </a:r>
            <a:r>
              <a:rPr kumimoji="0" lang="fr-FR" sz="3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 la </a:t>
            </a:r>
            <a:r>
              <a:rPr kumimoji="0" lang="fr-FR" sz="30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diversité</a:t>
            </a:r>
            <a:r>
              <a:rPr kumimoji="0" lang="fr-FR" sz="30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des </a:t>
            </a:r>
            <a:r>
              <a:rPr kumimoji="0" lang="fr-FR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communautés:</a:t>
            </a:r>
            <a:endParaRPr kumimoji="0" lang="fr-FR" sz="30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tx2"/>
              </a:buClr>
              <a:buSzPct val="95000"/>
              <a:buFont typeface="Wingdings" panose="05000000000000000000"/>
              <a:buNone/>
              <a:defRPr/>
            </a:pPr>
            <a:endParaRPr kumimoji="0" lang="fr-FR" sz="30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428596" y="1428736"/>
            <a:ext cx="8501122" cy="17145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8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 diversité des espèces</a:t>
            </a:r>
            <a:endParaRPr kumimoji="0" lang="fr-FR" sz="2800" b="1" i="0" u="sng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Mesure de la richesse des </a:t>
            </a:r>
            <a:r>
              <a:rPr kumimoji="0" lang="fr-F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espèces: (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 nombre d'espèces présentes dans une </a:t>
            </a:r>
            <a:r>
              <a:rPr kumimoji="0" lang="fr-FR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communauté</a:t>
            </a:r>
            <a:r>
              <a:rPr kumimoji="0" lang="fr-FR" sz="2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</a:t>
            </a:r>
            <a:endParaRPr kumimoji="0" lang="fr-FR" sz="2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00034" y="4000504"/>
            <a:ext cx="8429684" cy="157161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Espèces envahissantes (ou invasives)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Espèces </a:t>
            </a: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non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indigènes</a:t>
            </a: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dont </a:t>
            </a: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l'introduction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cause ou peut causer des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dommages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dans leur nouvelle zone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285750"/>
            <a:ext cx="7772400" cy="714375"/>
          </a:xfrm>
          <a:solidFill>
            <a:schemeClr val="bg1"/>
          </a:solidFill>
          <a:ln>
            <a:solidFill>
              <a:srgbClr val="FFFF00"/>
            </a:solidFill>
          </a:ln>
        </p:spPr>
        <p:txBody>
          <a:bodyPr vert="horz" anchor="t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1" i="0" u="sng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Mesure de la diversité spécifique des communautés</a:t>
            </a:r>
            <a:br>
              <a:rPr kumimoji="0" lang="fr-FR" sz="32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fr-FR" sz="3200" b="0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7651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71500" y="3857625"/>
            <a:ext cx="8115300" cy="2714625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d'indices qui prennent en compte le </a:t>
            </a: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nombre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d'espèce et leur </a:t>
            </a:r>
            <a:r>
              <a:rPr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abondance</a:t>
            </a:r>
            <a:endParaRPr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 de Simpson 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 la proportion d'individus de l'échantillon qui appartiennent </a:t>
            </a:r>
            <a:r>
              <a:rPr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l'espèce i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8625" y="1357313"/>
            <a:ext cx="8643938" cy="8302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Abondance relative: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Proportion de chaque espèce par rapport au nombre total d’individus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3714750" y="4714875"/>
            <a:ext cx="2286000" cy="7858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</a:lstStyle>
          <a:p>
            <a:pPr lvl="0" algn="ctr" eaLnBrk="1" hangingPunct="1">
              <a:buNone/>
            </a:pPr>
            <a:r>
              <a:rPr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 = 1 – Σpi </a:t>
            </a:r>
            <a:r>
              <a:rPr sz="2400" b="1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400" b="1" dirty="0">
              <a:solidFill>
                <a:schemeClr val="bg1"/>
              </a:solidFill>
              <a:latin typeface="Corbel" panose="020B0503020204020204" pitchFamily="34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857250" y="2500313"/>
            <a:ext cx="8001000" cy="1143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 richesse spécifique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représente mal la diversité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Si les abondances relatives  des différentes </a:t>
            </a: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espèces </a:t>
            </a: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sont très différentes 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4" name="Espace réservé du contenu 3"/>
          <p:cNvPicPr>
            <a:picLocks noGrp="1"/>
          </p:cNvPicPr>
          <p:nvPr>
            <p:ph idx="1" hasCustomPrompt="1"/>
          </p:nvPr>
        </p:nvPicPr>
        <p:blipFill>
          <a:blip r:embed="rId1"/>
          <a:srcRect t="48053" b="2614"/>
          <a:stretch>
            <a:fillRect/>
          </a:stretch>
        </p:blipFill>
        <p:spPr>
          <a:xfrm>
            <a:off x="1320800" y="1882775"/>
            <a:ext cx="6502400" cy="3760788"/>
          </a:xfrm>
          <a:ln/>
        </p:spPr>
      </p:pic>
      <p:sp>
        <p:nvSpPr>
          <p:cNvPr id="28675" name="Rectangle 1"/>
          <p:cNvSpPr/>
          <p:nvPr/>
        </p:nvSpPr>
        <p:spPr>
          <a:xfrm>
            <a:off x="1285875" y="1071563"/>
            <a:ext cx="6500813" cy="5238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>
              <a:buNone/>
            </a:pPr>
            <a:r>
              <a:rPr sz="2800" b="1" dirty="0">
                <a:latin typeface="Times New Roman" panose="02020603050405020304" pitchFamily="18" charset="0"/>
                <a:cs typeface="Calibri" panose="020F0502020204030204" pitchFamily="34" charset="0"/>
              </a:rPr>
              <a:t>H= 1 - (0.80</a:t>
            </a:r>
            <a:r>
              <a:rPr sz="2800" b="1" baseline="30000" dirty="0">
                <a:latin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sz="2800" b="1" dirty="0">
                <a:latin typeface="Times New Roman" panose="02020603050405020304" pitchFamily="18" charset="0"/>
                <a:cs typeface="Calibri" panose="020F0502020204030204" pitchFamily="34" charset="0"/>
              </a:rPr>
              <a:t> + 0.05</a:t>
            </a:r>
            <a:r>
              <a:rPr sz="2800" b="1" baseline="30000" dirty="0">
                <a:latin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sz="2800" b="1" dirty="0">
                <a:latin typeface="Times New Roman" panose="02020603050405020304" pitchFamily="18" charset="0"/>
                <a:cs typeface="Calibri" panose="020F0502020204030204" pitchFamily="34" charset="0"/>
              </a:rPr>
              <a:t> + 0.05</a:t>
            </a:r>
            <a:r>
              <a:rPr sz="2800" b="1" baseline="30000" dirty="0">
                <a:latin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sz="2800" b="1" dirty="0">
                <a:latin typeface="Times New Roman" panose="02020603050405020304" pitchFamily="18" charset="0"/>
                <a:cs typeface="Calibri" panose="020F0502020204030204" pitchFamily="34" charset="0"/>
              </a:rPr>
              <a:t> + 0.10</a:t>
            </a:r>
            <a:r>
              <a:rPr sz="2800" b="1" baseline="30000" dirty="0">
                <a:latin typeface="Times New Roman" panose="02020603050405020304" pitchFamily="18" charset="0"/>
                <a:cs typeface="Calibri" panose="020F0502020204030204" pitchFamily="34" charset="0"/>
              </a:rPr>
              <a:t>2</a:t>
            </a:r>
            <a:r>
              <a:rPr sz="2800" b="1" dirty="0">
                <a:latin typeface="Times New Roman" panose="02020603050405020304" pitchFamily="18" charset="0"/>
                <a:cs typeface="Calibri" panose="020F0502020204030204" pitchFamily="34" charset="0"/>
              </a:rPr>
              <a:t> ) </a:t>
            </a:r>
            <a:endParaRPr sz="2800" dirty="0"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14563" y="4071938"/>
            <a:ext cx="357188" cy="2857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4643438" y="3286125"/>
            <a:ext cx="357188" cy="28575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5786438" y="4500563"/>
            <a:ext cx="214313" cy="2143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3000375" y="4286250"/>
            <a:ext cx="214313" cy="2143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endParaRPr kumimoji="0" lang="fr-FR" sz="18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57188" y="214313"/>
            <a:ext cx="8786813" cy="714375"/>
          </a:xfrm>
          <a:solidFill>
            <a:schemeClr val="accent6">
              <a:lumMod val="60000"/>
              <a:lumOff val="40000"/>
            </a:schemeClr>
          </a:solidFill>
        </p:spPr>
        <p:txBody>
          <a:bodyPr vert="horz" anchor="t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IV. Qu'est ce qui contrôle la structure de la communauté?</a:t>
            </a:r>
            <a:br>
              <a:rPr kumimoji="0" lang="fr-FR" sz="32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fr-FR" sz="3200" b="1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642964" y="1214422"/>
            <a:ext cx="8215316" cy="228601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1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Espèce dominante </a:t>
            </a:r>
            <a:endParaRPr kumimoji="0" lang="fr-FR" sz="2400" b="1" i="1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abondance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en </a:t>
            </a:r>
            <a:r>
              <a:rPr kumimoji="0" lang="fr-FR" sz="24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biomasse</a:t>
            </a:r>
            <a:endParaRPr kumimoji="0" lang="fr-FR" sz="2400" b="1" i="0" u="sng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la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plus importante dans une communauté </a:t>
            </a:r>
            <a:endParaRPr kumimoji="0" lang="fr-FR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Parce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qu'elle est la plus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compétitive</a:t>
            </a:r>
            <a:endParaRPr kumimoji="0" lang="fr-FR" sz="2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elle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évite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efficacement la prédation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642910" y="4000504"/>
            <a:ext cx="8215370" cy="21431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Espèces clés</a:t>
            </a:r>
            <a:endParaRPr kumimoji="0" lang="fr-FR" sz="2400" b="1" i="0" u="sng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Une espèce 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dont la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disparition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causerait à un écosystème un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changement trop grand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pour les autres espèces de l'écosystème.</a:t>
            </a: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b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>
            <p:ph type="title" hasCustomPrompt="1"/>
          </p:nvPr>
        </p:nvSpPr>
        <p:spPr>
          <a:xfrm>
            <a:off x="785813" y="285750"/>
            <a:ext cx="7772400" cy="914400"/>
          </a:xfrm>
          <a:solidFill>
            <a:schemeClr val="accent6">
              <a:lumMod val="60000"/>
              <a:lumOff val="40000"/>
            </a:schemeClr>
          </a:solidFill>
        </p:spPr>
        <p:txBody>
          <a:bodyPr vert="horz" anchor="t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C. Evolution dans le temps des communautés</a:t>
            </a:r>
            <a:br>
              <a:rPr kumimoji="0" lang="fr-FR" sz="32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fr-FR" sz="3200" b="1" i="0" u="none" strike="noStrike" kern="1200" cap="none" spc="-1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072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00063" y="3643313"/>
            <a:ext cx="8286750" cy="257175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Perturbation de petite échelle: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chute d'un arbre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Perturbation de grande échelle: </a:t>
            </a:r>
            <a:r>
              <a:rPr sz="2800" dirty="0"/>
              <a:t>Tempête, Incendie,  Inondation, éruption volcanique</a:t>
            </a:r>
            <a:endParaRPr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Perturbations humaines: </a:t>
            </a:r>
            <a:r>
              <a:rPr sz="2800" dirty="0"/>
              <a:t>(pollution, déforestation, etc..), etc…</a:t>
            </a:r>
            <a:endParaRPr sz="2800" dirty="0"/>
          </a:p>
          <a:p>
            <a:pPr eaLnBrk="1" hangingPunct="1">
              <a:buNone/>
            </a:pPr>
            <a:endParaRPr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0724" name="Rectangle 4"/>
          <p:cNvSpPr/>
          <p:nvPr/>
        </p:nvSpPr>
        <p:spPr>
          <a:xfrm>
            <a:off x="785813" y="1830388"/>
            <a:ext cx="8072437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buFont typeface="Wingdings" panose="05000000000000000000" pitchFamily="2" charset="2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communautés étaient en général </a:t>
            </a:r>
            <a:r>
              <a:rPr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l'équilibre</a:t>
            </a:r>
            <a:endParaRPr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Wingdings" panose="05000000000000000000" pitchFamily="2" charset="2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communautés </a:t>
            </a:r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changent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constamment en réponse </a:t>
            </a:r>
            <a:r>
              <a:rPr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à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perturbations</a:t>
            </a:r>
            <a:endParaRPr sz="2800" b="1" u="sng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500063" y="214313"/>
            <a:ext cx="7772400" cy="914400"/>
          </a:xfr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1" i="0" u="sng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La succession écologique</a:t>
            </a:r>
            <a:br>
              <a:rPr kumimoji="0" lang="fr-FR" sz="3200" b="1" i="0" u="sng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fr-FR" sz="3200" b="1" i="0" u="sng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4035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00063" y="3357563"/>
            <a:ext cx="8429625" cy="3357563"/>
          </a:xfrm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débute dans un territoire </a:t>
            </a:r>
            <a:r>
              <a:rPr kumimoji="0" lang="fr-FR" sz="2400" b="1" i="0" u="sng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stérile </a:t>
            </a:r>
            <a:endParaRPr kumimoji="0" lang="fr-FR" sz="2400" b="1" i="0" u="sng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fr-FR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Exemple :</a:t>
            </a:r>
            <a:endParaRPr kumimoji="0" lang="fr-FR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Colonisation après </a:t>
            </a:r>
            <a:r>
              <a:rPr kumimoji="0" lang="fr-FR" sz="24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 fonte d'un glacier</a:t>
            </a:r>
            <a:endParaRPr kumimoji="0" lang="fr-FR" sz="2400" b="1" i="0" u="sng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 glacier se retire</a:t>
            </a:r>
            <a:endParaRPr kumimoji="0" lang="fr-FR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les </a:t>
            </a:r>
            <a:r>
              <a:rPr kumimoji="0" lang="fr-FR" sz="2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bactéries, 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</a:t>
            </a:r>
            <a:r>
              <a:rPr kumimoji="0" lang="fr-FR" sz="2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mousses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et les </a:t>
            </a:r>
            <a:r>
              <a:rPr kumimoji="0" lang="fr-FR" sz="2400" b="0" i="0" u="sng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lichens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fr-FR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 sol se forme progressivement!</a:t>
            </a:r>
            <a:endParaRPr kumimoji="0" lang="fr-FR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11480" marR="0" lvl="0" indent="-342900" algn="l" defTabSz="9144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ct val="0"/>
              </a:spcAft>
              <a:buClr>
                <a:schemeClr val="tx2"/>
              </a:buClr>
              <a:buSzPct val="95000"/>
              <a:buFont typeface="Wingdings" panose="05000000000000000000" pitchFamily="2" charset="2"/>
              <a:buNone/>
              <a:defRPr/>
            </a:pP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Les espèces </a:t>
            </a:r>
            <a:r>
              <a:rPr kumimoji="0" lang="fr-FR" sz="2400" b="1" i="0" u="sng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pionnières</a:t>
            </a:r>
            <a:r>
              <a:rPr kumimoji="0" lang="fr-FR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colonisent ensuite!</a:t>
            </a:r>
            <a:endParaRPr kumimoji="0" lang="fr-FR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85720" y="928670"/>
            <a:ext cx="8858312" cy="857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La succession écologique est un processus naturel </a:t>
            </a:r>
            <a:r>
              <a:rPr kumimoji="0" lang="fr-FR" sz="22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d’évolution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des écosystèmes </a:t>
            </a:r>
            <a:r>
              <a:rPr kumimoji="0" lang="fr-FR" sz="22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d’un stade initial 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vers un stade théorique </a:t>
            </a:r>
            <a:r>
              <a:rPr kumimoji="0" lang="fr-FR" sz="22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final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dit </a:t>
            </a:r>
            <a:r>
              <a:rPr kumimoji="0" lang="fr-FR" sz="22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climacique</a:t>
            </a:r>
            <a:endParaRPr kumimoji="0" lang="fr-FR" sz="2200" b="1" i="0" u="sng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357188" y="2143125"/>
            <a:ext cx="4643438" cy="8572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800" b="1" i="0" u="sng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Succession primaire : </a:t>
            </a:r>
            <a:endParaRPr kumimoji="0" lang="fr-F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142875"/>
            <a:ext cx="7772400" cy="914400"/>
          </a:xfrm>
        </p:spPr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0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Succession secondaire : </a:t>
            </a:r>
            <a:endParaRPr kumimoji="0" lang="fr-FR" sz="4000" b="1" i="0" u="none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32771" name="Picture 2"/>
          <p:cNvPicPr>
            <a:picLocks noGrp="1" noChangeAspect="1"/>
          </p:cNvPicPr>
          <p:nvPr>
            <p:ph idx="1" hasCustomPrompt="1"/>
          </p:nvPr>
        </p:nvPicPr>
        <p:blipFill>
          <a:blip r:embed="rId1"/>
          <a:srcRect/>
          <a:stretch>
            <a:fillRect/>
          </a:stretch>
        </p:blipFill>
        <p:spPr>
          <a:xfrm>
            <a:off x="1214438" y="2946400"/>
            <a:ext cx="3082925" cy="3625850"/>
          </a:xfrm>
          <a:ln/>
        </p:spPr>
      </p:pic>
      <p:pic>
        <p:nvPicPr>
          <p:cNvPr id="3277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3071813"/>
            <a:ext cx="3429000" cy="36433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5"/>
          <p:cNvSpPr/>
          <p:nvPr/>
        </p:nvSpPr>
        <p:spPr>
          <a:xfrm>
            <a:off x="428625" y="1000125"/>
            <a:ext cx="8501063" cy="23082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Succession secondaire : 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débute après une </a:t>
            </a:r>
            <a:r>
              <a:rPr kumimoji="0" lang="fr-FR" sz="2400" b="0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perturbation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qui laisse le sol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intact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 est caractérisé par l'établissement d'espèces 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 tooltip="Végétal"/>
              </a:rPr>
              <a:t>végétales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de plus en plus </a:t>
            </a:r>
            <a:r>
              <a:rPr kumimoji="0" lang="fr-FR" sz="2400" b="1" i="0" u="sng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complexes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dans un 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4" tooltip="Biotope"/>
              </a:rPr>
              <a:t>biotope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ayant déjà accueilli la 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5" tooltip="Vie"/>
              </a:rPr>
              <a:t>vie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mais ayant subi une 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6" tooltip="Perturbation écologique"/>
              </a:rPr>
              <a:t>perturbation écologique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telle qu'une 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7" tooltip="Inondation"/>
              </a:rPr>
              <a:t>inondation</a:t>
            </a: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qui a affecté l'écosystème mais sans l'éliminer entièrement.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774" name="Rectangle 6"/>
          <p:cNvSpPr/>
          <p:nvPr/>
        </p:nvSpPr>
        <p:spPr>
          <a:xfrm>
            <a:off x="1143000" y="6488113"/>
            <a:ext cx="7215188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Parc du Yellowstone, USA : après l'incendie de 1988 et en 1989</a:t>
            </a:r>
            <a:endParaRPr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794" name="Picture 1"/>
          <p:cNvPicPr>
            <a:picLocks noGrp="1" noChangeAspect="1"/>
          </p:cNvPicPr>
          <p:nvPr>
            <p:ph idx="1" hasCustomPrompt="1"/>
          </p:nvPr>
        </p:nvPicPr>
        <p:blipFill>
          <a:blip r:embed="rId1"/>
          <a:srcRect/>
          <a:stretch>
            <a:fillRect/>
          </a:stretch>
        </p:blipFill>
        <p:spPr>
          <a:xfrm>
            <a:off x="785813" y="1857375"/>
            <a:ext cx="7715250" cy="4071938"/>
          </a:xfrm>
          <a:ln/>
        </p:spPr>
      </p:pic>
      <p:sp>
        <p:nvSpPr>
          <p:cNvPr id="33795" name="Rectangle 4"/>
          <p:cNvSpPr/>
          <p:nvPr/>
        </p:nvSpPr>
        <p:spPr>
          <a:xfrm>
            <a:off x="2357438" y="6059488"/>
            <a:ext cx="4643437" cy="584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Succession écologique</a:t>
            </a:r>
            <a:endParaRPr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7143750" y="2357438"/>
            <a:ext cx="1285875" cy="5000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climax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714348" y="571480"/>
            <a:ext cx="8072494" cy="100013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Communauté Climax </a:t>
            </a:r>
            <a:endParaRPr kumimoji="0" lang="fr-FR" sz="24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Communauté qui a atteint un état stable après la succession écologique</a:t>
            </a: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solidFill>
            <a:schemeClr val="accent3"/>
          </a:solidFill>
          <a:ln w="38100" cap="flat" cmpd="sng" algn="ctr">
            <a:solidFill>
              <a:schemeClr val="lt1"/>
            </a:solidFill>
            <a:prstDash val="solid"/>
          </a:ln>
          <a:effectLst>
            <a:glow rad="63500">
              <a:schemeClr val="accent3">
                <a:alpha val="45000"/>
                <a:satMod val="120000"/>
              </a:schemeClr>
            </a:glow>
          </a:effectLst>
          <a:scene3d>
            <a:camera prst="orthographicFront"/>
            <a:lightRig rig="balanced" dir="t"/>
          </a:scene3d>
          <a:sp3d prstMaterial="plastic"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2800" b="1" i="0" u="none" strike="noStrike" kern="1200" cap="none" spc="-10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Facteurs qui influencent la diversité des communautés</a:t>
            </a:r>
            <a:br>
              <a:rPr kumimoji="0" lang="fr-FR" sz="2800" b="0" i="0" u="none" strike="noStrike" kern="1200" cap="none" spc="-10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endParaRPr kumimoji="0" lang="fr-FR" sz="2800" b="0" i="0" u="none" strike="noStrike" kern="1200" cap="none" spc="-10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821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914400" y="2141538"/>
            <a:ext cx="7772400" cy="2573337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b="1" u="sng" dirty="0"/>
              <a:t>Facteurs abiotiques</a:t>
            </a:r>
            <a:r>
              <a:rPr dirty="0"/>
              <a:t> :  Température,  Précipitations, Lumière,  Sol, etc..</a:t>
            </a:r>
            <a:endParaRPr dirty="0"/>
          </a:p>
          <a:p>
            <a:pPr eaLnBrk="1" hangingPunct="1"/>
            <a:r>
              <a:rPr b="1" u="sng" dirty="0"/>
              <a:t>Facteurs biotiques</a:t>
            </a:r>
            <a:r>
              <a:rPr dirty="0"/>
              <a:t> : Relations intraspécifiques , Relations interspécifiques</a:t>
            </a:r>
            <a:endParaRPr dirty="0"/>
          </a:p>
          <a:p>
            <a:pPr eaLnBrk="1" hangingPunct="1"/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vert="horz" anchor="t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4800" b="1" i="0" u="sng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Arabic Typesetting" panose="03020402040406030203" pitchFamily="66" charset="-78"/>
                <a:ea typeface="+mj-ea"/>
                <a:cs typeface="Arabic Typesetting" panose="03020402040406030203" pitchFamily="66" charset="-78"/>
              </a:rPr>
              <a:t>Interaction du milieu et des êtres vivants</a:t>
            </a:r>
            <a:br>
              <a:rPr kumimoji="0" lang="fr-FR" sz="4800" b="1" i="0" u="sng" strike="noStrike" kern="1200" cap="none" spc="-100" normalizeH="0" baseline="0" noProof="0" dirty="0" smtClean="0">
                <a:ln>
                  <a:noFill/>
                </a:ln>
                <a:solidFill>
                  <a:schemeClr val="tx2">
                    <a:satMod val="200000"/>
                  </a:schemeClr>
                </a:solidFill>
                <a:effectLst/>
                <a:uLnTx/>
                <a:uFillTx/>
                <a:latin typeface="Arabic Typesetting" panose="03020402040406030203" pitchFamily="66" charset="-78"/>
                <a:ea typeface="+mj-ea"/>
                <a:cs typeface="Arabic Typesetting" panose="03020402040406030203" pitchFamily="66" charset="-78"/>
              </a:rPr>
            </a:br>
            <a:endParaRPr kumimoji="0" lang="fr-FR" sz="4800" b="1" i="0" u="sng" strike="noStrike" kern="1200" cap="none" spc="-100" normalizeH="0" baseline="0" noProof="0" dirty="0">
              <a:ln>
                <a:noFill/>
              </a:ln>
              <a:solidFill>
                <a:schemeClr val="tx2">
                  <a:satMod val="200000"/>
                </a:schemeClr>
              </a:solidFill>
              <a:effectLst/>
              <a:uLnTx/>
              <a:uFillTx/>
              <a:latin typeface="Arabic Typesetting" panose="03020402040406030203" pitchFamily="66" charset="-78"/>
              <a:ea typeface="+mj-ea"/>
              <a:cs typeface="Arabic Typesetting" panose="03020402040406030203" pitchFamily="66" charset="-78"/>
            </a:endParaRPr>
          </a:p>
        </p:txBody>
      </p:sp>
      <p:sp>
        <p:nvSpPr>
          <p:cNvPr id="3584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57200" y="1071563"/>
            <a:ext cx="8229600" cy="2928937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réactions des êtres vivants face aux variations des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physico-chimiques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milieu intéressent la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la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physiologie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 </a:t>
            </a:r>
            <a:r>
              <a:rPr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None/>
            </a:pPr>
            <a:endParaRPr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tro">
  <a:themeElements>
    <a:clrScheme name="Métro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Métro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</Template>
  <TotalTime>0</TotalTime>
  <Words>7052</Words>
  <Application>WPS Presentation</Application>
  <PresentationFormat>Affichage à l'écran (4:3)</PresentationFormat>
  <Paragraphs>253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SimSun</vt:lpstr>
      <vt:lpstr>Wingdings</vt:lpstr>
      <vt:lpstr>Consolas</vt:lpstr>
      <vt:lpstr>Corbel</vt:lpstr>
      <vt:lpstr>Wingdings 2</vt:lpstr>
      <vt:lpstr>Wingdings 3</vt:lpstr>
      <vt:lpstr>Calibri</vt:lpstr>
      <vt:lpstr>Times New Roman</vt:lpstr>
      <vt:lpstr>Arabic Typesetting</vt:lpstr>
      <vt:lpstr>Wingdings 2</vt:lpstr>
      <vt:lpstr>Microsoft YaHei</vt:lpstr>
      <vt:lpstr>Arial Unicode MS</vt:lpstr>
      <vt:lpstr>Wingdings</vt:lpstr>
      <vt:lpstr>Métro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II</dc:title>
  <dc:creator>ADMIN</dc:creator>
  <cp:lastModifiedBy>THINKPAD</cp:lastModifiedBy>
  <cp:revision>170</cp:revision>
  <dcterms:created xsi:type="dcterms:W3CDTF">2015-12-10T08:16:15Z</dcterms:created>
  <dcterms:modified xsi:type="dcterms:W3CDTF">2026-10-12T10:10:10Z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1036-12.1.0.28485</vt:lpwstr>
  </property>
  <property fmtid="{D5CDD505-2E9C-101B-9397-08002B2CF9AE}" pid="3" name="ICV">
    <vt:lpwstr>F1B91AD72F7E436D81FECF1C09F326F9_13</vt:lpwstr>
  </property>
</Properties>
</file>