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1" r:id="rId5"/>
    <p:sldId id="350" r:id="rId6"/>
    <p:sldId id="351" r:id="rId7"/>
    <p:sldId id="352" r:id="rId8"/>
    <p:sldId id="355" r:id="rId9"/>
    <p:sldId id="354" r:id="rId10"/>
    <p:sldId id="269" r:id="rId11"/>
    <p:sldId id="280" r:id="rId12"/>
    <p:sldId id="359" r:id="rId13"/>
    <p:sldId id="321" r:id="rId14"/>
    <p:sldId id="313" r:id="rId15"/>
    <p:sldId id="357" r:id="rId16"/>
    <p:sldId id="299" r:id="rId17"/>
    <p:sldId id="360" r:id="rId18"/>
    <p:sldId id="325" r:id="rId19"/>
    <p:sldId id="349" r:id="rId20"/>
    <p:sldId id="362" r:id="rId21"/>
    <p:sldId id="326" r:id="rId22"/>
    <p:sldId id="363" r:id="rId23"/>
    <p:sldId id="327" r:id="rId24"/>
    <p:sldId id="364" r:id="rId2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isocè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 hasCustomPrompt="1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 hasCustomPrompt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830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Titre de sec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angle rect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riangle isocè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93FDBC77-BAED-472B-BF1C-5EC34B679360}" type="slidenum">
              <a:rPr lang="fr-FR" smtClean="0"/>
            </a:fld>
            <a:endParaRPr lang="fr-FR"/>
          </a:p>
        </p:txBody>
      </p:sp>
      <p:cxnSp>
        <p:nvCxnSpPr>
          <p:cNvPr id="11" name="Connecteur droit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61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a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 hasCustomPrompt="1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 hasCustomPrompt="1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u avec légen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415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 hasCustomPrompt="1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 hasCustomPrompt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Image avec légen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rect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Connecteur droit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  <a:p>
            <a:pPr lvl="1" eaLnBrk="1" latinLnBrk="0" hangingPunct="1"/>
            <a:r>
              <a:rPr kumimoji="0" lang="fr-FR" smtClean="0"/>
              <a:t>Deuxième niveau</a:t>
            </a:r>
            <a:endParaRPr kumimoji="0" lang="fr-FR" smtClean="0"/>
          </a:p>
          <a:p>
            <a:pPr lvl="2" eaLnBrk="1" latinLnBrk="0" hangingPunct="1"/>
            <a:r>
              <a:rPr kumimoji="0" lang="fr-FR" smtClean="0"/>
              <a:t>Troisième niveau</a:t>
            </a:r>
            <a:endParaRPr kumimoji="0" lang="fr-FR" smtClean="0"/>
          </a:p>
          <a:p>
            <a:pPr lvl="3" eaLnBrk="1" latinLnBrk="0" hangingPunct="1"/>
            <a:r>
              <a:rPr kumimoji="0" lang="fr-FR" smtClean="0"/>
              <a:t>Quatrième niveau</a:t>
            </a:r>
            <a:endParaRPr kumimoji="0" lang="fr-FR" smtClean="0"/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3BEC579C-E546-4A54-9BF8-20F42E15A1D4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93FDBC77-BAED-472B-BF1C-5EC34B679360}" type="slidenum">
              <a:rPr lang="fr-FR" smtClean="0"/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484505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310" indent="-384175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 panose="05020102010507070707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 panose="020B0604030504040204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170" indent="-228600" algn="l" rtl="0" eaLnBrk="1" latinLnBrk="0" hangingPunct="1">
        <a:spcBef>
          <a:spcPct val="20000"/>
        </a:spcBef>
        <a:buClr>
          <a:schemeClr val="accent1"/>
        </a:buClr>
        <a:buFont typeface="Wingdings 2" panose="05020102010507070707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185" algn="l" rtl="0" eaLnBrk="1" latinLnBrk="0" hangingPunct="1">
        <a:spcBef>
          <a:spcPct val="20000"/>
        </a:spcBef>
        <a:buClr>
          <a:schemeClr val="accent1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705" indent="-210185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fr.wikipedia.org/w/index.php?title=Agro-%C3%A9cosyst%C3%A8me&amp;action=edit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biodiversite-poitou-charentes.org/Le-lezard-vert.html" TargetMode="External"/><Relationship Id="rId1" Type="http://schemas.openxmlformats.org/officeDocument/2006/relationships/hyperlink" Target="http://www.biodiversite-poitou-charentes.org/La-truite-fario.htm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40385" y="644525"/>
            <a:ext cx="8062595" cy="1757680"/>
          </a:xfrm>
        </p:spPr>
        <p:txBody>
          <a:bodyPr>
            <a:normAutofit fontScale="90000"/>
          </a:bodyPr>
          <a:lstStyle/>
          <a:p>
            <a:b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Ecologie et protection de l’environnement</a:t>
            </a:r>
            <a:r>
              <a:rPr lang="fr-FR" dirty="0" smtClean="0"/>
              <a:t> 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928926" y="5357826"/>
            <a:ext cx="4531522" cy="1107282"/>
          </a:xfrm>
        </p:spPr>
        <p:txBody>
          <a:bodyPr/>
          <a:lstStyle/>
          <a:p>
            <a:r>
              <a:rPr lang="fr-FR" b="1" dirty="0" smtClean="0"/>
              <a:t>Dr. BOUGUENAYA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00166" y="70780"/>
            <a:ext cx="6072230" cy="108980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b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 l’écologie</a:t>
            </a:r>
            <a:b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93140" y="1214120"/>
            <a:ext cx="7125335" cy="178689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mot « écologie » 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000" b="1" i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oikos</a:t>
            </a:r>
            <a:r>
              <a:rPr lang="fr-FR" sz="20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logos)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science de l’habitat</a:t>
            </a:r>
            <a:endParaRPr lang="fr-FR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 science pluridisciplinaire 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0100" y="3000372"/>
            <a:ext cx="7500990" cy="18158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science de l’habitat, étudiant les conditions d'existence des êtres vivants et les interactions de toute nature qui existent entre ces êtres vivants et leurs milieux.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929505"/>
            <a:ext cx="9167495" cy="1568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l’écologie s’appuie sur des sciences adhérents 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telles la climatologie, l'hydrologie, l'océanographie, la chimie, la géologie, la pédologie, la physiologie, la génétique, ... etc. Ce qui fait de l’écologie,   une science pluridisciplinaire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28704" y="267494"/>
            <a:ext cx="7115196" cy="87549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Domaines d’intervention </a:t>
            </a:r>
            <a:b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428736"/>
            <a:ext cx="8186766" cy="4572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études écologiques portent conventionnellement sur trois niveaux : </a:t>
            </a:r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L’individu, la population et la communauté. </a:t>
            </a:r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None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None/>
            </a:pPr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None/>
            </a:pP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individu</a:t>
            </a:r>
            <a:endParaRPr lang="fr-F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None/>
            </a:pP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population</a:t>
            </a:r>
            <a:endParaRPr lang="fr-F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None/>
            </a:pP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communauté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None/>
            </a:pP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 biocénose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la synécologie</a:t>
            </a:r>
            <a:endParaRPr lang="fr-F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29454" y="3357562"/>
            <a:ext cx="1601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l’autoécologie </a:t>
            </a:r>
            <a:endParaRPr lang="fr-FR" dirty="0"/>
          </a:p>
        </p:txBody>
      </p:sp>
      <p:sp>
        <p:nvSpPr>
          <p:cNvPr id="6" name="Flèche droite 5"/>
          <p:cNvSpPr/>
          <p:nvPr/>
        </p:nvSpPr>
        <p:spPr>
          <a:xfrm>
            <a:off x="2643174" y="3429000"/>
            <a:ext cx="3714776" cy="15716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Chacun de ces trois niveaux fait l’objet d’une division de l’écologie</a:t>
            </a:r>
            <a:endParaRPr lang="fr-FR" dirty="0" smtClean="0">
              <a:solidFill>
                <a:schemeClr val="bg1"/>
              </a:solidFill>
            </a:endParaRPr>
          </a:p>
          <a:p>
            <a:pPr algn="ctr"/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6388117" y="4000504"/>
            <a:ext cx="2755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l’écologie des populations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732614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fr-FR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Notion de système écologique : Ecosystème</a:t>
            </a:r>
            <a:br>
              <a:rPr lang="fr-FR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71438" y="1071546"/>
            <a:ext cx="8929718" cy="20002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Un écosystème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est par définition un système, c’est-à-dire </a:t>
            </a:r>
            <a:r>
              <a:rPr lang="fr-FR" sz="24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ensemble d’éléments en interaction les uns avec les autres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C’est un système biologique formé par deux éléments indissociables, </a:t>
            </a:r>
            <a:r>
              <a:rPr lang="fr-FR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biocénose 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le biotope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Écosystème = Biotope    (X)   Biocénose</a:t>
            </a:r>
            <a:endParaRPr lang="fr-FR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714348" y="3143248"/>
            <a:ext cx="7929618" cy="1500198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 La biocénose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est l’ensemble des organismes qui vivent ensemble (</a:t>
            </a:r>
            <a:r>
              <a:rPr lang="fr-FR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zoocénose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phytocénose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microbiocénose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mycocénose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…).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142844" y="5000636"/>
            <a:ext cx="9001156" cy="157161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Le biotope (</a:t>
            </a:r>
            <a:r>
              <a:rPr lang="fr-FR" sz="2800" b="1" u="sng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écotope</a:t>
            </a:r>
            <a:r>
              <a:rPr lang="fr-FR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est le </a:t>
            </a:r>
            <a:r>
              <a:rPr lang="fr-FR" sz="28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biosphère qui fournit à la biocénose le milieu abiotique indispensable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5811890"/>
          </a:xfrm>
        </p:spPr>
        <p:txBody>
          <a:bodyPr>
            <a:norm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 biotope est défini par les caractéristiques et qualités de 5 éléments indispensables à la vie : 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L'eau, le sol, l'air, la lumière, la température.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Ces 5 éléments de vie se retrouvent dans tous les biotopes mais en quantité et en composition différentes. 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biotope est l'équilibre de ces 5 éléments de vie. Chaque biotope est donc différent et chaque biotope accueille un type de vie différent.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357430"/>
            <a:ext cx="8401080" cy="4071966"/>
          </a:xfrm>
        </p:spPr>
        <p:txBody>
          <a:bodyPr>
            <a:normAutofit/>
          </a:bodyPr>
          <a:lstStyle/>
          <a:p>
            <a:pPr lvl="0"/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Ecosystèmes continentaux (ou </a:t>
            </a:r>
            <a:r>
              <a:rPr lang="fr-FR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terrestres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écosystèmes </a:t>
            </a:r>
            <a:r>
              <a:rPr lang="fr-FR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forestiers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(forêts)</a:t>
            </a:r>
            <a:endParaRPr lang="fr-FR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écosystèmes </a:t>
            </a:r>
            <a:r>
              <a:rPr lang="fr-FR" sz="32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prairiaux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(prairies), </a:t>
            </a:r>
            <a:r>
              <a:rPr lang="fr-FR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 </a:t>
            </a:r>
            <a:r>
              <a:rPr lang="fr-FR" sz="3200" b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  <a:hlinkClick r:id="rId1" tooltip="Agro-écosystème"/>
              </a:rPr>
              <a:t>agroécosystèmes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(systèmes agricoles) ;</a:t>
            </a:r>
            <a:endParaRPr lang="fr-FR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Ecosystèmes aquatique :des eaux continentales</a:t>
            </a:r>
            <a:endParaRPr lang="fr-FR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Ecosystèmes océaniques: 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(les mers, les océans).</a:t>
            </a:r>
            <a:endParaRPr lang="fr-FR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fr-FR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714348" y="357166"/>
            <a:ext cx="7929618" cy="1785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écosystèmes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sont souvent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classés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 référence aux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biotopes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concernés: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214290"/>
            <a:ext cx="8229600" cy="1399032"/>
          </a:xfrm>
        </p:spPr>
        <p:txBody>
          <a:bodyPr>
            <a:normAutofit fontScale="90000"/>
          </a:bodyPr>
          <a:lstStyle/>
          <a:p>
            <a:br>
              <a:rPr lang="fr-FR" b="1" dirty="0" smtClean="0"/>
            </a:br>
            <a:r>
              <a:rPr lang="fr-FR" b="1" dirty="0" smtClean="0"/>
              <a:t>À quoi sert l’écologie  (importante)?</a:t>
            </a:r>
            <a:br>
              <a:rPr lang="fr-FR" b="1" dirty="0" smtClean="0"/>
            </a:br>
            <a:br>
              <a:rPr lang="fr-FR" b="1" dirty="0" smtClean="0"/>
            </a:b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357158" y="1428736"/>
            <a:ext cx="8358246" cy="9541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l’écologie permet de mieux comprendre comment les êtres vivants </a:t>
            </a:r>
            <a:r>
              <a:rPr lang="fr-FR" sz="28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vivent et interagissent 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 sein d’un </a:t>
            </a:r>
            <a:r>
              <a:rPr lang="fr-FR" sz="28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milieu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5720" y="2832083"/>
            <a:ext cx="8143932" cy="9541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l’écologie a pour objectif de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protéger les écosystèmes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la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biodiversité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et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l’environnement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 général,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1667" y="4143380"/>
            <a:ext cx="7212167" cy="5232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Connaitre les crises écologiques et ses dangers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5720" y="4929198"/>
            <a:ext cx="8786842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L’objectif de l’écologie est de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ralentir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cette crise écologique, voire de mettre en place des mécanismes forts pour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protéger l’écosystème et tenter de l’éviter.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66130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L’écologie apporte les connaissances nécessaires pour </a:t>
            </a:r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cerner les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problèmes environnementaux, les comprendre et </a:t>
            </a:r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résoudre</a:t>
            </a:r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2000240"/>
            <a:ext cx="8229600" cy="450059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>
            <a:normAutofit fontScale="92500"/>
          </a:bodyPr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Déforestation.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Érosion des terres par déforestation.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Appauvrissement des sols par l’agriculture et l’élevage.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Pollutions de l’eau et de l’air.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Bioaccumulation des pesticides.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Destruction de la couche d’ozone sous l'action des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CFC(</a:t>
            </a:r>
            <a:r>
              <a:rPr lang="fr-FR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Chlorofluorocarbonnes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Déséquilibres par introduction d’espèces exotiques.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053312"/>
            <a:ext cx="8229600" cy="337582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br>
              <a:rPr lang="fr-FR" sz="36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b="1" u="sng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Chapitre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1 - </a:t>
            </a:r>
            <a:r>
              <a:rPr lang="fr-FR" sz="36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Ecologie</a:t>
            </a:r>
            <a:r>
              <a:rPr lang="en-US" sz="36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 populations</a:t>
            </a:r>
            <a:b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8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u="sng" dirty="0" err="1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l’écologie</a:t>
            </a:r>
            <a:r>
              <a:rPr lang="en-US" sz="2800" b="1" u="sng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 populations: </a:t>
            </a:r>
            <a:r>
              <a:rPr lang="fr-FR" sz="2800" b="1" u="sng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Désigne l’étude des relations entre une population d'individus d'une même espèce et son environnement. </a:t>
            </a:r>
            <a:br>
              <a:rPr lang="fr-FR" sz="2800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800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 dit également </a:t>
            </a:r>
            <a:r>
              <a:rPr lang="fr-FR" sz="28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démo-écologie </a:t>
            </a:r>
            <a:br>
              <a:rPr lang="fr-FR" sz="28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28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2800" b="1" dirty="0">
              <a:ln w="50800"/>
              <a:solidFill>
                <a:schemeClr val="bg1">
                  <a:shade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24618"/>
            <a:ext cx="8229600" cy="108980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fr-FR" sz="2800" b="1" dirty="0" smtClean="0">
                <a:ln w="50800"/>
                <a:solidFill>
                  <a:schemeClr val="bg1">
                    <a:shade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I. Principaux paramètres de population</a:t>
            </a:r>
            <a:endParaRPr lang="fr-FR" sz="2800" b="1" dirty="0">
              <a:ln w="50800"/>
              <a:solidFill>
                <a:schemeClr val="bg1">
                  <a:shade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2428868"/>
            <a:ext cx="8643998" cy="407196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26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Exemples de populations :</a:t>
            </a:r>
            <a:endParaRPr lang="fr-FR" sz="26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l’ensemble des </a:t>
            </a:r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truites</a:t>
            </a:r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d’un bassin hydrographique,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population des </a:t>
            </a:r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lézards verts</a:t>
            </a:r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d’une pelouse,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chênes pédonculés d’un massif forestier…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6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Caractérise une population:</a:t>
            </a:r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Taille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Densité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Dispersion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Demographie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6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14282" y="1285860"/>
            <a:ext cx="8786874" cy="121444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fr-FR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Populations</a:t>
            </a:r>
            <a:r>
              <a:rPr lang="fr-FR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Ensemble d'individus de la même espèce vivant dans une région géographique donnée à un moment précis</a:t>
            </a:r>
            <a:endParaRPr lang="fr-FR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109504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Taille de la population (N)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8680" y="2097122"/>
            <a:ext cx="8229600" cy="2046258"/>
          </a:xfrm>
        </p:spPr>
        <p:txBody>
          <a:bodyPr>
            <a:normAutofit/>
          </a:bodyPr>
          <a:lstStyle/>
          <a:p>
            <a:pPr algn="ctr"/>
            <a:r>
              <a:rPr lang="fr-FR" sz="32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nombre d'individus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la population ; par exemple 500chevreuils dans une forêt (N=500)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85728"/>
            <a:ext cx="3228972" cy="9144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Densité</a:t>
            </a:r>
            <a:br>
              <a:rPr lang="fr-FR" b="1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8662" y="1714488"/>
            <a:ext cx="8015318" cy="3857620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densité est le nombre d'individus par unité de surface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(cette surface unitaire est dépendante de la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taille de l'espèce étudiée 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Km² pour les grands mammifères 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 pour les arbres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-"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m² pour les insectes du sol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u="sng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Densité de population</a:t>
            </a:r>
            <a:endParaRPr lang="fr-FR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densité n’est pas </a:t>
            </a:r>
            <a:r>
              <a:rPr lang="fr-FR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statique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Les effectifs d'une population dépendent surtout de : 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Natalité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Mortalité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Immigration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Émigration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b="1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Fécondité</a:t>
            </a:r>
            <a:endParaRPr lang="fr-FR" b="1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6472254" cy="80405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Facteur dépendant de la densité 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142984"/>
            <a:ext cx="8543956" cy="5429288"/>
          </a:xfrm>
        </p:spPr>
        <p:txBody>
          <a:bodyPr>
            <a:normAutofit/>
          </a:bodyPr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0034" y="3272219"/>
            <a:ext cx="5681363" cy="58477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Facteur indépendant de la densité</a:t>
            </a:r>
            <a:endParaRPr lang="fr-FR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285720" y="1285860"/>
            <a:ext cx="8643966" cy="171451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Fait référence aux caractéristiques qui </a:t>
            </a:r>
            <a:r>
              <a:rPr lang="fr-FR" sz="2600" b="1" u="sng" dirty="0" smtClean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modifient</a:t>
            </a:r>
            <a:r>
              <a:rPr lang="fr-FR" sz="2600" dirty="0" smtClean="0">
                <a:solidFill>
                  <a:schemeClr val="bg1"/>
                </a:solidFill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taille de la population (N) </a:t>
            </a:r>
            <a:r>
              <a:rPr lang="fr-FR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qui </a:t>
            </a:r>
            <a:r>
              <a:rPr lang="fr-FR" sz="2600" i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fr-FR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6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affectées</a:t>
            </a:r>
            <a:r>
              <a:rPr lang="fr-FR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la </a:t>
            </a:r>
            <a:r>
              <a:rPr lang="fr-FR" sz="26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densité</a:t>
            </a:r>
            <a:r>
              <a:rPr lang="fr-FR" sz="2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population ; par exemple, la compétition</a:t>
            </a:r>
            <a:endParaRPr lang="fr-FR" sz="2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428596" y="4071625"/>
            <a:ext cx="8501122" cy="25003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Fait référence aux</a:t>
            </a:r>
            <a:r>
              <a:rPr lang="fr-FR" sz="2800" b="1" dirty="0" smtClean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caractéristiques qui modifient </a:t>
            </a:r>
            <a:r>
              <a:rPr lang="fr-FR" sz="2800" b="1" u="sng" dirty="0" smtClean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 taille de la population (N)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qui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 sont </a:t>
            </a:r>
            <a:r>
              <a:rPr lang="fr-FR" sz="28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affectées par la densité de la population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par exemple, les catastrophes naturelles comme les tremblements de terre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14546" y="428604"/>
            <a:ext cx="4614866" cy="1018366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fr-F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3.1.Populations stables</a:t>
            </a:r>
            <a:b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4071942"/>
            <a:ext cx="8229600" cy="204625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C'est le cas par exemple des espèces de grande taille où les facteurs biotiques sont importants (arbres dans une forêt naturelle).</a:t>
            </a:r>
            <a:r>
              <a:rPr lang="fr-FR" sz="2800" dirty="0" smtClean="0"/>
              <a:t> </a:t>
            </a:r>
            <a:r>
              <a:rPr lang="fr-FR" sz="28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variation sont faibles.</a:t>
            </a:r>
            <a:endParaRPr lang="fr-FR" sz="2800" u="sng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None/>
            </a:pPr>
            <a:endParaRPr lang="fr-FR" sz="2800" dirty="0" smtClean="0">
              <a:solidFill>
                <a:srgbClr val="FF0000"/>
              </a:solidFill>
            </a:endParaRPr>
          </a:p>
          <a:p>
            <a:pPr>
              <a:buNone/>
            </a:pP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0034" y="2000240"/>
            <a:ext cx="8072494" cy="17859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3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Toute population </a:t>
            </a:r>
            <a:r>
              <a:rPr lang="fr-FR" sz="23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fermée</a:t>
            </a:r>
            <a:r>
              <a:rPr lang="fr-FR" sz="23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sans échange migratoire avec l’extérieur soumise à des conditions </a:t>
            </a:r>
            <a:r>
              <a:rPr lang="fr-FR" sz="23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fécondité et de mortalité invariables</a:t>
            </a:r>
            <a:r>
              <a:rPr lang="fr-FR" sz="23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sur une longue période, tend vers </a:t>
            </a:r>
            <a:r>
              <a:rPr lang="fr-FR" sz="23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état stable</a:t>
            </a:r>
            <a:endParaRPr lang="fr-FR" sz="2300" b="1" u="sng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94692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Dispersion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5804" y="1428736"/>
            <a:ext cx="8229600" cy="1143008"/>
          </a:xfrm>
        </p:spPr>
        <p:txBody>
          <a:bodyPr>
            <a:norm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modèle de répartition des individus à l'intérieur d'une population 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58" y="4827828"/>
            <a:ext cx="8429684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Souvent, la dispersion des individus dans une population fournit plus d'informations sur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façon dont ils interagissent entre eux ,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avec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leur environnement 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qu'une simple mesure de densité.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/>
                <a:ea typeface="Calibri" panose="020F0502020204030204" charset="0"/>
                <a:cs typeface="Arial" panose="020B0604020202020204" pitchFamily="34" charset="0"/>
              </a:rPr>
              <a:t>En 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/>
                <a:ea typeface="Calibri" panose="020F0502020204030204" charset="0"/>
                <a:cs typeface="Arial" panose="020B0604020202020204" pitchFamily="34" charset="0"/>
              </a:rPr>
              <a:t>cologie, les personnes vivant dans une population peuvent être r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/>
                <a:ea typeface="Calibri" panose="020F0502020204030204" charset="0"/>
                <a:cs typeface="Arial" panose="020B0604020202020204" pitchFamily="34" charset="0"/>
              </a:rPr>
              <a:t>parties de trois fa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ç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/>
                <a:ea typeface="Calibri" panose="020F0502020204030204" charset="0"/>
                <a:cs typeface="Arial" panose="020B0604020202020204" pitchFamily="34" charset="0"/>
              </a:rPr>
              <a:t>ons g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/>
                <a:ea typeface="Calibri" panose="020F0502020204030204" charset="0"/>
                <a:cs typeface="Arial" panose="020B0604020202020204" pitchFamily="34" charset="0"/>
              </a:rPr>
              <a:t>n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/>
                <a:ea typeface="Calibri" panose="020F0502020204030204" charset="0"/>
                <a:cs typeface="Arial" panose="020B0604020202020204" pitchFamily="34" charset="0"/>
              </a:rPr>
              <a:t>rales : uniforme, al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/>
                <a:ea typeface="Calibri" panose="020F0502020204030204" charset="0"/>
                <a:cs typeface="Arial" panose="020B0604020202020204" pitchFamily="34" charset="0"/>
              </a:rPr>
              <a:t>atoire ou dispersion en agr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/>
                <a:ea typeface="Calibri" panose="020F0502020204030204" charset="0"/>
                <a:cs typeface="Arial" panose="020B0604020202020204" pitchFamily="34" charset="0"/>
              </a:rPr>
              <a:t>gats (dispersion group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/>
                <a:ea typeface="Calibri" panose="020F0502020204030204" charset="0"/>
                <a:cs typeface="Arial" panose="020B0604020202020204" pitchFamily="34" charset="0"/>
              </a:rPr>
              <a:t>e).</a:t>
            </a: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 charset="0"/>
                <a:ea typeface="Calibri" panose="020F0502020204030204" charset="0"/>
                <a:cs typeface="Arial" panose="020B0604020202020204" pitchFamily="34" charset="0"/>
              </a:rPr>
              <a:t>En 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 charset="0"/>
                <a:ea typeface="Calibri" panose="020F0502020204030204" charset="0"/>
                <a:cs typeface="Arial" panose="020B0604020202020204" pitchFamily="34" charset="0"/>
              </a:rPr>
              <a:t>cologie, les personnes vivant dans une population peuvent être r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 charset="0"/>
                <a:ea typeface="Calibri" panose="020F0502020204030204" charset="0"/>
                <a:cs typeface="Arial" panose="020B0604020202020204" pitchFamily="34" charset="0"/>
              </a:rPr>
              <a:t>parties de trois fa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ç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 charset="0"/>
                <a:ea typeface="Calibri" panose="020F0502020204030204" charset="0"/>
                <a:cs typeface="Arial" panose="020B0604020202020204" pitchFamily="34" charset="0"/>
              </a:rPr>
              <a:t>ons g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 charset="0"/>
                <a:ea typeface="Calibri" panose="020F0502020204030204" charset="0"/>
                <a:cs typeface="Arial" panose="020B0604020202020204" pitchFamily="34" charset="0"/>
              </a:rPr>
              <a:t>n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 charset="0"/>
                <a:ea typeface="Calibri" panose="020F0502020204030204" charset="0"/>
                <a:cs typeface="Arial" panose="020B0604020202020204" pitchFamily="34" charset="0"/>
              </a:rPr>
              <a:t>rales : uniforme, al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 charset="0"/>
                <a:ea typeface="Calibri" panose="020F0502020204030204" charset="0"/>
                <a:cs typeface="Arial" panose="020B0604020202020204" pitchFamily="34" charset="0"/>
              </a:rPr>
              <a:t>atoire ou dispersion en agr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 charset="0"/>
                <a:ea typeface="Calibri" panose="020F0502020204030204" charset="0"/>
                <a:cs typeface="Arial" panose="020B0604020202020204" pitchFamily="34" charset="0"/>
              </a:rPr>
              <a:t>gats (dispersion group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Calibri" panose="020F0502020204030204"/>
                <a:ea typeface="Calibri" panose="020F0502020204030204" charset="0"/>
                <a:cs typeface="Arial" panose="020B0604020202020204" pitchFamily="34" charset="0"/>
              </a:rPr>
              <a:t>é</a:t>
            </a:r>
            <a:r>
              <a:rPr kumimoji="0" lang="fr-FR" sz="900" b="0" i="0" u="none" strike="noStrike" cap="none" normalizeH="0" baseline="0" smtClean="0">
                <a:ln>
                  <a:noFill/>
                </a:ln>
                <a:solidFill>
                  <a:srgbClr val="21242C"/>
                </a:solidFill>
                <a:effectLst/>
                <a:latin typeface="Helvetica" charset="0"/>
                <a:ea typeface="Calibri" panose="020F0502020204030204" charset="0"/>
                <a:cs typeface="Arial" panose="020B0604020202020204" pitchFamily="34" charset="0"/>
              </a:rPr>
              <a:t>e).</a:t>
            </a:r>
            <a:endParaRPr kumimoji="0" 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57158" y="2756126"/>
            <a:ext cx="8643966" cy="18158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 écologie, les personnes vivant dans une population peuvent être réparties de trois façons générales : uniforme, aléatoire ou dispersion en agrégats (dispersion groupée).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2500306"/>
            <a:ext cx="8229600" cy="221457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Démographie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l’étude </a:t>
            </a:r>
            <a:r>
              <a:rPr lang="fr-FR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 populations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 de leur </a:t>
            </a:r>
            <a:r>
              <a:rPr lang="fr-FR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 fil du temps </a:t>
            </a:r>
            <a:endParaRPr lang="fr-F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7615262" cy="139903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fr-FR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1.3. DEMOGRAPHIE</a:t>
            </a:r>
            <a:endParaRPr lang="fr-FR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à coins arrondis 3"/>
          <p:cNvSpPr/>
          <p:nvPr/>
        </p:nvSpPr>
        <p:spPr>
          <a:xfrm>
            <a:off x="571472" y="357166"/>
            <a:ext cx="7643866" cy="11430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5.1. DYNAMIQUE DE LA POPULATION</a:t>
            </a:r>
            <a:endParaRPr lang="fr-FR" sz="28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Lois de croissance des populations 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57158" y="2928934"/>
            <a:ext cx="8786842" cy="3429024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Chaque individu d'une espèce </a:t>
            </a:r>
            <a:r>
              <a:rPr lang="fr-FR" sz="28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naît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vit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 certain temps et </a:t>
            </a:r>
            <a:r>
              <a:rPr lang="fr-FR" sz="28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meurt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Une population est donc </a:t>
            </a:r>
            <a:r>
              <a:rPr lang="fr-FR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système dynamique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dont la permanence résulte de phénomènes </a:t>
            </a:r>
            <a:r>
              <a:rPr lang="fr-FR" sz="28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compensatoires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 individus quittent le système (mortalité, émigration), tandis que d'autres y pénètrent (natalité, immigration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4282" y="2000240"/>
            <a:ext cx="8929718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l'évolution de la taille de la population (N) au fil du temps</a:t>
            </a:r>
            <a:endParaRPr lang="fr-FR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Croissance d'une population dans un environnement </a:t>
            </a:r>
            <a:r>
              <a:rPr lang="fr-FR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idéal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avec </a:t>
            </a:r>
            <a:r>
              <a:rPr lang="fr-FR" sz="32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 ressources illimitées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 exemple, les bactéries laissées sur une boite de Pétri enrichie en nutriment pendant une nuit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285720" y="267494"/>
            <a:ext cx="8643998" cy="101836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b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L’accroissement démographique exponentiel </a:t>
            </a:r>
            <a:b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214282" y="1428736"/>
            <a:ext cx="566542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14282" y="214290"/>
            <a:ext cx="82868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compte une population </a:t>
            </a:r>
            <a:r>
              <a:rPr lang="fr-FR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hypothétique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composée de quelques individus vivants dans un milieu idéal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1928794" y="1143008"/>
            <a:ext cx="2571768" cy="428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COURBE EN j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6072198" y="3214686"/>
            <a:ext cx="2786082" cy="7143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taux de reproduction exponentielle </a:t>
            </a:r>
            <a:endParaRPr lang="fr-FR" sz="20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6072198" y="2428868"/>
            <a:ext cx="2786082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nourriture abondante </a:t>
            </a:r>
            <a:endParaRPr lang="fr-FR" sz="2000" b="1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6072198" y="1714488"/>
            <a:ext cx="2786082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Peu d’individus</a:t>
            </a:r>
            <a:endParaRPr lang="fr-FR" sz="2400" b="1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142844" y="5214950"/>
            <a:ext cx="9001156" cy="15716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cette population </a:t>
            </a:r>
            <a:r>
              <a:rPr lang="fr-FR" sz="20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hypothétique</a:t>
            </a:r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chaque individu donne naissance à </a:t>
            </a:r>
            <a:r>
              <a:rPr lang="fr-FR" sz="20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deux descendants</a:t>
            </a:r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 population s’accroit donc en </a:t>
            </a:r>
            <a:r>
              <a:rPr lang="fr-FR" sz="20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proportion constante</a:t>
            </a:r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chaque génération (elle double). Le nombre d’individus qui s’ajoutent à la population </a:t>
            </a:r>
            <a:r>
              <a:rPr lang="fr-FR" sz="20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augmente</a:t>
            </a:r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chaque </a:t>
            </a:r>
            <a:r>
              <a:rPr lang="fr-FR" sz="20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</a:t>
            </a:r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cela donne graphiquement une courbe de croissance en </a:t>
            </a:r>
            <a:r>
              <a:rPr lang="fr-F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caractérisant </a:t>
            </a:r>
            <a:r>
              <a:rPr lang="fr-FR" sz="20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croissance </a:t>
            </a:r>
            <a:r>
              <a:rPr lang="fr-FR" sz="20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exponentielle</a:t>
            </a:r>
            <a:endParaRPr lang="fr-FR" sz="20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fr-FR" b="1">
                <a:solidFill>
                  <a:schemeClr val="tx1"/>
                </a:solidFill>
                <a:sym typeface="+mn-ea"/>
              </a:rPr>
              <a:t>La « strat</a:t>
            </a:r>
            <a:r>
              <a:rPr lang="en-US" altLang="en-US" b="1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fr-FR" b="1">
                <a:solidFill>
                  <a:schemeClr val="tx1"/>
                </a:solidFill>
                <a:sym typeface="+mn-ea"/>
              </a:rPr>
              <a:t>gie K » </a:t>
            </a:r>
            <a:endParaRPr lang="en-US" altLang="fr-FR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fr-FR"/>
              <a:t>pour les esp</a:t>
            </a:r>
            <a:r>
              <a:rPr lang="" altLang="en-US"/>
              <a:t>è</a:t>
            </a:r>
            <a:r>
              <a:rPr lang="en-US" altLang="fr-FR"/>
              <a:t>ces qui investissent dans la survie des jeunes. </a:t>
            </a:r>
            <a:endParaRPr lang="en-US" altLang="fr-FR"/>
          </a:p>
          <a:p>
            <a:r>
              <a:rPr lang="en-US" altLang="fr-FR"/>
              <a:t>Ces esp</a:t>
            </a:r>
            <a:r>
              <a:rPr lang="" altLang="en-US"/>
              <a:t>è</a:t>
            </a:r>
            <a:r>
              <a:rPr lang="en-US" altLang="fr-FR"/>
              <a:t>ces pr</a:t>
            </a:r>
            <a:r>
              <a:rPr lang="en-US" altLang="en-US"/>
              <a:t>é</a:t>
            </a:r>
            <a:r>
              <a:rPr lang="en-US" altLang="fr-FR"/>
              <a:t>sentent une croissance lente, une longue dur</a:t>
            </a:r>
            <a:r>
              <a:rPr lang="en-US" altLang="en-US"/>
              <a:t>é</a:t>
            </a:r>
            <a:r>
              <a:rPr lang="en-US" altLang="fr-FR"/>
              <a:t>e de vie, </a:t>
            </a:r>
            <a:endParaRPr lang="en-US" altLang="fr-FR"/>
          </a:p>
          <a:p>
            <a:r>
              <a:rPr lang="en-US" altLang="fr-FR"/>
              <a:t>une maturit</a:t>
            </a:r>
            <a:r>
              <a:rPr lang="en-US" altLang="en-US"/>
              <a:t>é </a:t>
            </a:r>
            <a:r>
              <a:rPr lang="en-US" altLang="fr-FR"/>
              <a:t>sexuelle tardive et une f</a:t>
            </a:r>
            <a:r>
              <a:rPr lang="en-US" altLang="en-US"/>
              <a:t>é</a:t>
            </a:r>
            <a:r>
              <a:rPr lang="en-US" altLang="fr-FR"/>
              <a:t>condit</a:t>
            </a:r>
            <a:r>
              <a:rPr lang="en-US" altLang="en-US"/>
              <a:t>é </a:t>
            </a:r>
            <a:r>
              <a:rPr lang="en-US" altLang="fr-FR"/>
              <a:t>restreinte.</a:t>
            </a:r>
            <a:endParaRPr lang="en-US" alt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07157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r-F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croissance logistique</a:t>
            </a:r>
            <a:br>
              <a:rPr lang="fr-F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modèle logistique démographique </a:t>
            </a:r>
            <a:endParaRPr lang="fr-FR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5000629" y="1500174"/>
            <a:ext cx="4071966" cy="497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57158" y="1357298"/>
            <a:ext cx="4572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fr-FR" dirty="0" smtClean="0"/>
          </a:p>
          <a:p>
            <a:r>
              <a:rPr lang="fr-FR" dirty="0" smtClean="0"/>
              <a:t>Le nombre d’individus augmente, les ressources diminues</a:t>
            </a:r>
            <a:r>
              <a:rPr lang="fr-FR" u="sng" dirty="0" smtClean="0"/>
              <a:t>: </a:t>
            </a:r>
            <a:r>
              <a:rPr lang="fr-FR" b="1" u="sng" dirty="0" smtClean="0"/>
              <a:t>capacité limite du milieu </a:t>
            </a:r>
            <a:endParaRPr lang="fr-FR" b="1" u="sng" dirty="0" smtClean="0"/>
          </a:p>
        </p:txBody>
      </p:sp>
      <p:sp>
        <p:nvSpPr>
          <p:cNvPr id="7" name="Rectangle 6"/>
          <p:cNvSpPr/>
          <p:nvPr/>
        </p:nvSpPr>
        <p:spPr>
          <a:xfrm>
            <a:off x="357158" y="4357694"/>
            <a:ext cx="4572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dirty="0" smtClean="0"/>
              <a:t>C’est le </a:t>
            </a:r>
            <a:r>
              <a:rPr lang="fr-FR" b="1" dirty="0" smtClean="0"/>
              <a:t>nombre maximal d’individus capables de vivre dans un milieu pendant un certain temps sans dégradation de l’habitat </a:t>
            </a:r>
            <a:endParaRPr lang="fr-FR" b="1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928934"/>
            <a:ext cx="4114800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fr-FR" b="1">
                <a:solidFill>
                  <a:schemeClr val="tx1"/>
                </a:solidFill>
                <a:sym typeface="+mn-ea"/>
              </a:rPr>
              <a:t>La « strat</a:t>
            </a:r>
            <a:r>
              <a:rPr lang="en-US" altLang="en-US" b="1">
                <a:solidFill>
                  <a:schemeClr val="tx1"/>
                </a:solidFill>
                <a:sym typeface="+mn-ea"/>
              </a:rPr>
              <a:t>é</a:t>
            </a:r>
            <a:r>
              <a:rPr lang="en-US" altLang="fr-FR" b="1">
                <a:solidFill>
                  <a:schemeClr val="tx1"/>
                </a:solidFill>
                <a:sym typeface="+mn-ea"/>
              </a:rPr>
              <a:t>gie r »</a:t>
            </a:r>
            <a:endParaRPr lang="en-US" altLang="fr-FR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fr-FR"/>
              <a:t> pour les esp</a:t>
            </a:r>
            <a:r>
              <a:rPr lang="" altLang="en-US"/>
              <a:t>è</a:t>
            </a:r>
            <a:r>
              <a:rPr lang="en-US" altLang="fr-FR"/>
              <a:t>ces qui misent sur une descendance nombreuse et une croissance rapide pour compenser une forte mortalit</a:t>
            </a:r>
            <a:r>
              <a:rPr lang="en-US" altLang="en-US"/>
              <a:t>é.</a:t>
            </a:r>
            <a:endParaRPr lang="en-US" altLang="en-US"/>
          </a:p>
          <a:p>
            <a:r>
              <a:rPr lang="en-US" altLang="en-US"/>
              <a:t> </a:t>
            </a:r>
            <a:r>
              <a:rPr lang="en-US" altLang="fr-FR"/>
              <a:t>Ces esp</a:t>
            </a:r>
            <a:r>
              <a:rPr lang="" altLang="en-US"/>
              <a:t>è</a:t>
            </a:r>
            <a:r>
              <a:rPr lang="en-US" altLang="fr-FR"/>
              <a:t>ces se caract</a:t>
            </a:r>
            <a:r>
              <a:rPr lang="en-US" altLang="en-US"/>
              <a:t>é</a:t>
            </a:r>
            <a:r>
              <a:rPr lang="en-US" altLang="fr-FR"/>
              <a:t>risent donc par une dur</a:t>
            </a:r>
            <a:r>
              <a:rPr lang="en-US" altLang="en-US"/>
              <a:t>é</a:t>
            </a:r>
            <a:r>
              <a:rPr lang="en-US" altLang="fr-FR"/>
              <a:t>e de vie courte, une maturit</a:t>
            </a:r>
            <a:r>
              <a:rPr lang="en-US" altLang="en-US"/>
              <a:t>é </a:t>
            </a:r>
            <a:r>
              <a:rPr lang="en-US" altLang="fr-FR"/>
              <a:t>pr</a:t>
            </a:r>
            <a:r>
              <a:rPr lang="en-US" altLang="en-US"/>
              <a:t>é</a:t>
            </a:r>
            <a:r>
              <a:rPr lang="en-US" altLang="fr-FR"/>
              <a:t>coce.</a:t>
            </a:r>
            <a:endParaRPr lang="en-US" altLang="fr-F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0</TotalTime>
  <Words>7787</Words>
  <Application>WPS Presentation</Application>
  <PresentationFormat>Affichage à l'écran (4:3)</PresentationFormat>
  <Paragraphs>196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Arial</vt:lpstr>
      <vt:lpstr>SimSun</vt:lpstr>
      <vt:lpstr>Wingdings</vt:lpstr>
      <vt:lpstr>Wingdings 2</vt:lpstr>
      <vt:lpstr>Verdana</vt:lpstr>
      <vt:lpstr>Times New Roman</vt:lpstr>
      <vt:lpstr>Century Gothic</vt:lpstr>
      <vt:lpstr>Microsoft YaHei</vt:lpstr>
      <vt:lpstr>Arial Unicode MS</vt:lpstr>
      <vt:lpstr>Calibri</vt:lpstr>
      <vt:lpstr>Helvetica</vt:lpstr>
      <vt:lpstr>Calibri</vt:lpstr>
      <vt:lpstr>Helvetica</vt:lpstr>
      <vt:lpstr>Times New Roman</vt:lpstr>
      <vt:lpstr>Verve</vt:lpstr>
      <vt:lpstr>    Ecologie et protection de l’environnement  </vt:lpstr>
      <vt:lpstr> Introduction a l’écologie </vt:lpstr>
      <vt:lpstr> 2. Domaines d’intervention  </vt:lpstr>
      <vt:lpstr>1. Notion de système écologique : Ecosystème </vt:lpstr>
      <vt:lpstr>PowerPoint 演示文稿</vt:lpstr>
      <vt:lpstr>PowerPoint 演示文稿</vt:lpstr>
      <vt:lpstr>À quoi sert l’écologie  (importante)? </vt:lpstr>
      <vt:lpstr>L’écologie apporte les connaissances nécessaires pour cerner les problèmes environnementaux, les comprendre et les résoudre</vt:lpstr>
      <vt:lpstr> Chapitre 1 - Ecologie des populations  l’écologie des populations:  Désigne l’étude des relations entre une population d'individus d'une même espèce et son environnement.  Se dit également démo-écologie    </vt:lpstr>
      <vt:lpstr>I. Principaux paramètres de population</vt:lpstr>
      <vt:lpstr>Taille de la population (N)</vt:lpstr>
      <vt:lpstr> Densité </vt:lpstr>
      <vt:lpstr>Densité de population</vt:lpstr>
      <vt:lpstr>Facteur dépendant de la densité </vt:lpstr>
      <vt:lpstr>3.1.Populations stables </vt:lpstr>
      <vt:lpstr>Dispersion</vt:lpstr>
      <vt:lpstr>1.3. DEMOGRAPHIE</vt:lpstr>
      <vt:lpstr>PowerPoint 演示文稿</vt:lpstr>
      <vt:lpstr>  L’accroissement démographique exponentiel  </vt:lpstr>
      <vt:lpstr>PowerPoint 演示文稿</vt:lpstr>
      <vt:lpstr>PowerPoint 演示文稿</vt:lpstr>
      <vt:lpstr>La croissance logistique Le modèle logistique démographique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 Ecologie</dc:title>
  <dc:creator>ADMIN</dc:creator>
  <cp:lastModifiedBy>Mopp Mehdi</cp:lastModifiedBy>
  <cp:revision>215</cp:revision>
  <dcterms:created xsi:type="dcterms:W3CDTF">2015-12-07T10:30:00Z</dcterms:created>
  <dcterms:modified xsi:type="dcterms:W3CDTF">2026-10-04T18:48:08Z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1036-12.1.0.28485</vt:lpwstr>
  </property>
  <property fmtid="{D5CDD505-2E9C-101B-9397-08002B2CF9AE}" pid="3" name="ICV">
    <vt:lpwstr>B9F258BED3C2442B9BBE084A1FA78E04_12</vt:lpwstr>
  </property>
</Properties>
</file>